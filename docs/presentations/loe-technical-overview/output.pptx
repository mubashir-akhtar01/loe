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07" d="100"/>
          <a:sy n="107" d="100"/>
        </p:scale>
        <p:origin x="714" y="-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deck as the implementation-level overview for engineering, product, and operational stakeholders.</a:t>
            </a:r>
          </a:p>
          <a:p>
            <a:endParaRPr/>
          </a:p>
          <a:p>
            <a:r>
              <a:t>[Sources]</a:t>
            </a:r>
          </a:p>
          <a:p>
            <a:r>
              <a:t>- Internal codebase snapshot reviewed on April 23, 2026.</a:t>
            </a:r>
          </a:p>
          <a:p>
            <a:r>
              <a:t>- docs/loe-technical-document.md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slide frames the product as one platform with two experiences, not as separate applications.</a:t>
            </a:r>
          </a:p>
          <a:p>
            <a:endParaRPr/>
          </a:p>
          <a:p>
            <a:r>
              <a:t>[Sources]</a:t>
            </a:r>
          </a:p>
          <a:p>
            <a:r>
              <a:t>- Internal codebase snapshot reviewed on April 23, 2026.</a:t>
            </a:r>
          </a:p>
          <a:p>
            <a:r>
              <a:t>- docs/loe-technical-document.md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target model still measures total monthly effort against 100 percent, but submission is not blocked above or below that number.</a:t>
            </a:r>
          </a:p>
          <a:p>
            <a:endParaRPr/>
          </a:p>
          <a:p>
            <a:r>
              <a:t>[Sources]</a:t>
            </a:r>
          </a:p>
          <a:p>
            <a:r>
              <a:t>- Internal codebase snapshot reviewed on April 23, 2026.</a:t>
            </a:r>
          </a:p>
          <a:p>
            <a:r>
              <a:t>- docs/loe-technical-document.md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central reporting lifecycle and should be understood by operations and engineering together.</a:t>
            </a:r>
          </a:p>
          <a:p>
            <a:endParaRPr/>
          </a:p>
          <a:p>
            <a:r>
              <a:t>[Sources]</a:t>
            </a:r>
          </a:p>
          <a:p>
            <a:r>
              <a:t>- Internal codebase snapshot reviewed on April 23, 2026.</a:t>
            </a:r>
          </a:p>
          <a:p>
            <a:r>
              <a:t>- docs/loe-technical-document.md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calculation layer is centralized so both panels reflect the same business logic.</a:t>
            </a:r>
          </a:p>
          <a:p>
            <a:endParaRPr/>
          </a:p>
          <a:p>
            <a:r>
              <a:t>[Sources]</a:t>
            </a:r>
          </a:p>
          <a:p>
            <a:r>
              <a:t>- Internal codebase snapshot reviewed on April 23, 2026.</a:t>
            </a:r>
          </a:p>
          <a:p>
            <a:r>
              <a:t>- docs/loe-technical-document.md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automation layer is scheduled through Laravel and uses database plus mail notifications.</a:t>
            </a:r>
          </a:p>
          <a:p>
            <a:endParaRPr/>
          </a:p>
          <a:p>
            <a:r>
              <a:t>[Sources]</a:t>
            </a:r>
          </a:p>
          <a:p>
            <a:r>
              <a:t>- Internal codebase snapshot reviewed on April 23, 2026.</a:t>
            </a:r>
          </a:p>
          <a:p>
            <a:r>
              <a:t>- docs/loe-technical-document.md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structure supports analytics, exports, and future review layers without redesigning the reporting core.</a:t>
            </a:r>
          </a:p>
          <a:p>
            <a:endParaRPr/>
          </a:p>
          <a:p>
            <a:r>
              <a:t>[Sources]</a:t>
            </a:r>
          </a:p>
          <a:p>
            <a:r>
              <a:t>- Internal codebase snapshot reviewed on April 23, 2026.</a:t>
            </a:r>
          </a:p>
          <a:p>
            <a:r>
              <a:t>- docs/loe-technical-document.md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with the message that the current product is a solid MVP baseline with controlled expansion points.</a:t>
            </a:r>
          </a:p>
          <a:p>
            <a:endParaRPr/>
          </a:p>
          <a:p>
            <a:r>
              <a:t>[Sources]</a:t>
            </a:r>
          </a:p>
          <a:p>
            <a:r>
              <a:t>- Internal codebase snapshot reviewed on April 23, 2026.</a:t>
            </a:r>
          </a:p>
          <a:p>
            <a:r>
              <a:t>- docs/loe-technical-document.md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0ADE834-17E5-405A-9F7E-28E7C8AD21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endParaRPr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E4324766-5FB4-458E-A6EE-C4A9803CDC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3C606B8A-B0D7-4569-8DD1-3BCEFBFCF99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B5FC039-D0D0-4445-8B15-D0FF5493902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B8F4C20-6430-4907-B4C9-5974FF53D89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CCD25451-D22D-404C-A59C-7CE6E246A917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7B8F4C20-6430-4907-B4C9-5974FF53D89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8717AB1-4049-4418-BFD6-7256B568CC2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72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BA40181-79D1-4B38-962B-96FA0688A92E}"/>
              </a:ext>
            </a:extLst>
          </p:cNvPr>
          <p:cNvSpPr>
            <a:spLocks noGrp="1"/>
          </p:cNvSpPr>
          <p:nvPr/>
        </p:nvSpPr>
        <p:spPr>
          <a:xfrm>
            <a:off x="7334250" y="-1047750"/>
            <a:ext cx="4095750" cy="4095750"/>
          </a:xfrm>
          <a:prstGeom prst="ellipse">
            <a:avLst/>
          </a:prstGeom>
          <a:solidFill>
            <a:srgbClr val="20345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81A06AE-0F30-4C68-A325-7DAD4FF213A3}"/>
              </a:ext>
            </a:extLst>
          </p:cNvPr>
          <p:cNvSpPr>
            <a:spLocks noGrp="1"/>
          </p:cNvSpPr>
          <p:nvPr/>
        </p:nvSpPr>
        <p:spPr>
          <a:xfrm>
            <a:off x="9620250" y="4095750"/>
            <a:ext cx="3429000" cy="3429000"/>
          </a:xfrm>
          <a:prstGeom prst="ellipse">
            <a:avLst/>
          </a:prstGeom>
          <a:solidFill>
            <a:srgbClr val="17273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592750-E54D-4DE7-B1BB-A4A5E5A04C6D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11087100" cy="5676900"/>
          </a:xfrm>
          <a:prstGeom prst="rect">
            <a:avLst/>
          </a:prstGeom>
          <a:solidFill>
            <a:srgbClr val="FFFFFF">
              <a:alpha val="784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2FE716-F8F8-44CE-8E29-395C8C39433C}"/>
              </a:ext>
            </a:extLst>
          </p:cNvPr>
          <p:cNvSpPr>
            <a:spLocks noGrp="1"/>
          </p:cNvSpPr>
          <p:nvPr/>
        </p:nvSpPr>
        <p:spPr>
          <a:xfrm>
            <a:off x="666750" y="419100"/>
            <a:ext cx="495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CD878"/>
                </a:solidFill>
              </a:defRPr>
            </a:pPr>
            <a:r>
              <a:rPr sz="975" b="1">
                <a:solidFill>
                  <a:srgbClr val="FCD878"/>
                </a:solidFill>
              </a:rPr>
              <a:t>IMPLEMENTATION BASELINE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D0AB29-7A7A-466D-A127-A30647914ACC}"/>
              </a:ext>
            </a:extLst>
          </p:cNvPr>
          <p:cNvSpPr>
            <a:spLocks noGrp="1"/>
          </p:cNvSpPr>
          <p:nvPr/>
        </p:nvSpPr>
        <p:spPr>
          <a:xfrm>
            <a:off x="10420350" y="419100"/>
            <a:ext cx="1047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01 / 08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1F8AE72-5E88-4236-AFA8-2C5BE49B6E67}"/>
              </a:ext>
            </a:extLst>
          </p:cNvPr>
          <p:cNvSpPr>
            <a:spLocks noGrp="1"/>
          </p:cNvSpPr>
          <p:nvPr/>
        </p:nvSpPr>
        <p:spPr>
          <a:xfrm>
            <a:off x="666750" y="1066800"/>
            <a:ext cx="7239000" cy="4476750"/>
          </a:xfrm>
          <a:prstGeom prst="roundRect">
            <a:avLst>
              <a:gd name="adj" fmla="val 1702"/>
            </a:avLst>
          </a:prstGeom>
          <a:solidFill>
            <a:srgbClr val="FFFFFF">
              <a:alpha val="6275"/>
            </a:srgbClr>
          </a:solidFill>
          <a:ln w="9525">
            <a:solidFill>
              <a:srgbClr val="FFFFFF">
                <a:alpha val="13333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C80086-0F79-435B-B837-E7DCD3D262D5}"/>
              </a:ext>
            </a:extLst>
          </p:cNvPr>
          <p:cNvSpPr>
            <a:spLocks noGrp="1"/>
          </p:cNvSpPr>
          <p:nvPr/>
        </p:nvSpPr>
        <p:spPr>
          <a:xfrm>
            <a:off x="666750" y="1066800"/>
            <a:ext cx="95250" cy="4476750"/>
          </a:xfrm>
          <a:prstGeom prst="rect">
            <a:avLst/>
          </a:prstGeom>
          <a:solidFill>
            <a:srgbClr val="F6B3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13F5A2-29A4-467F-9716-52734799BA8B}"/>
              </a:ext>
            </a:extLst>
          </p:cNvPr>
          <p:cNvSpPr>
            <a:spLocks noGrp="1"/>
          </p:cNvSpPr>
          <p:nvPr/>
        </p:nvSpPr>
        <p:spPr>
          <a:xfrm>
            <a:off x="971550" y="1428750"/>
            <a:ext cx="6191250" cy="1333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LoE Hub Technical Baseline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888855-9245-4584-A9F8-B53535B79F87}"/>
              </a:ext>
            </a:extLst>
          </p:cNvPr>
          <p:cNvSpPr>
            <a:spLocks noGrp="1"/>
          </p:cNvSpPr>
          <p:nvPr/>
        </p:nvSpPr>
        <p:spPr>
          <a:xfrm>
            <a:off x="990600" y="2724150"/>
            <a:ext cx="61912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DCE6F5"/>
                </a:solidFill>
              </a:defRPr>
            </a:pPr>
            <a:r>
              <a:rPr sz="1425" b="0">
                <a:solidFill>
                  <a:srgbClr val="DCE6F5"/>
                </a:solidFill>
              </a:rPr>
              <a:t>Implemented business rules, architecture, workflows, analytics surfaces, and operating controls as of April 23, 2026.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82E5F73-8F86-434C-BC8D-CEB6DAB864EA}"/>
              </a:ext>
            </a:extLst>
          </p:cNvPr>
          <p:cNvSpPr>
            <a:spLocks noGrp="1"/>
          </p:cNvSpPr>
          <p:nvPr/>
        </p:nvSpPr>
        <p:spPr>
          <a:xfrm>
            <a:off x="990600" y="3676650"/>
            <a:ext cx="1981200" cy="323850"/>
          </a:xfrm>
          <a:prstGeom prst="roundRect">
            <a:avLst>
              <a:gd name="adj" fmla="val 23529"/>
            </a:avLst>
          </a:prstGeom>
          <a:solidFill>
            <a:srgbClr val="FCD8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FCC62E3-82FB-4E6A-AEEF-BA2E177233CF}"/>
              </a:ext>
            </a:extLst>
          </p:cNvPr>
          <p:cNvSpPr>
            <a:spLocks noGrp="1"/>
          </p:cNvSpPr>
          <p:nvPr/>
        </p:nvSpPr>
        <p:spPr>
          <a:xfrm>
            <a:off x="1123950" y="3752850"/>
            <a:ext cx="171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32033"/>
                </a:solidFill>
              </a:defRPr>
            </a:pPr>
            <a:r>
              <a:rPr sz="900" b="1">
                <a:solidFill>
                  <a:srgbClr val="132033"/>
                </a:solidFill>
              </a:rPr>
              <a:t>Laravel 13 + Filament 5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4562CEC-3B45-4403-A58E-D531BC8DBF25}"/>
              </a:ext>
            </a:extLst>
          </p:cNvPr>
          <p:cNvSpPr>
            <a:spLocks noGrp="1"/>
          </p:cNvSpPr>
          <p:nvPr/>
        </p:nvSpPr>
        <p:spPr>
          <a:xfrm>
            <a:off x="3086100" y="3676650"/>
            <a:ext cx="1714500" cy="323850"/>
          </a:xfrm>
          <a:prstGeom prst="roundRect">
            <a:avLst>
              <a:gd name="adj" fmla="val 23529"/>
            </a:avLst>
          </a:prstGeom>
          <a:solidFill>
            <a:srgbClr val="4CC9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EF00C39-9B88-49D9-8451-C54056933DD3}"/>
              </a:ext>
            </a:extLst>
          </p:cNvPr>
          <p:cNvSpPr>
            <a:spLocks noGrp="1"/>
          </p:cNvSpPr>
          <p:nvPr/>
        </p:nvSpPr>
        <p:spPr>
          <a:xfrm>
            <a:off x="3219450" y="3752850"/>
            <a:ext cx="1447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1726"/>
                </a:solidFill>
              </a:defRPr>
            </a:pPr>
            <a:r>
              <a:rPr sz="900" b="1">
                <a:solidFill>
                  <a:srgbClr val="0E1726"/>
                </a:solidFill>
              </a:rPr>
              <a:t>Livewire 4 + Fortify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D507BB4-3A42-46FD-93C4-771A5765CF61}"/>
              </a:ext>
            </a:extLst>
          </p:cNvPr>
          <p:cNvSpPr>
            <a:spLocks noGrp="1"/>
          </p:cNvSpPr>
          <p:nvPr/>
        </p:nvSpPr>
        <p:spPr>
          <a:xfrm>
            <a:off x="971550" y="4467225"/>
            <a:ext cx="493395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AD0D049-0697-41CD-9337-1FAEBDDC0568}"/>
              </a:ext>
            </a:extLst>
          </p:cNvPr>
          <p:cNvSpPr>
            <a:spLocks noGrp="1"/>
          </p:cNvSpPr>
          <p:nvPr/>
        </p:nvSpPr>
        <p:spPr>
          <a:xfrm>
            <a:off x="1219200" y="457200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475569"/>
                </a:solidFill>
              </a:defRPr>
            </a:pPr>
            <a:r>
              <a:rPr sz="900" b="1">
                <a:solidFill>
                  <a:srgbClr val="475569"/>
                </a:solidFill>
              </a:rPr>
              <a:t>Key operating promise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0F8799D-C5D7-4D3A-AB6C-0D0547944DA0}"/>
              </a:ext>
            </a:extLst>
          </p:cNvPr>
          <p:cNvSpPr>
            <a:spLocks noGrp="1"/>
          </p:cNvSpPr>
          <p:nvPr/>
        </p:nvSpPr>
        <p:spPr>
          <a:xfrm>
            <a:off x="1219200" y="4819650"/>
            <a:ext cx="4362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32033"/>
                </a:solidFill>
              </a:defRPr>
            </a:pPr>
            <a:r>
              <a:rPr sz="1500" b="1" dirty="0">
                <a:solidFill>
                  <a:srgbClr val="132033"/>
                </a:solidFill>
              </a:rPr>
              <a:t>Monthly workforce visibility with enforced month closure and auditability.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3DF89DC-A80E-43CC-9015-F0B52E4FC5E2}"/>
              </a:ext>
            </a:extLst>
          </p:cNvPr>
          <p:cNvSpPr>
            <a:spLocks noGrp="1"/>
          </p:cNvSpPr>
          <p:nvPr/>
        </p:nvSpPr>
        <p:spPr>
          <a:xfrm>
            <a:off x="8343900" y="1181100"/>
            <a:ext cx="2800350" cy="2209800"/>
          </a:xfrm>
          <a:prstGeom prst="roundRect">
            <a:avLst>
              <a:gd name="adj" fmla="val 3448"/>
            </a:avLst>
          </a:prstGeom>
          <a:solidFill>
            <a:srgbClr val="FFFFFF">
              <a:alpha val="7843"/>
            </a:srgbClr>
          </a:solidFill>
          <a:ln w="9525">
            <a:solidFill>
              <a:srgbClr val="FFFFFF">
                <a:alpha val="13333"/>
              </a:srgbClr>
            </a:solidFill>
            <a:prstDash val="solid"/>
          </a:ln>
        </p:spPr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F2309C6-4CBF-4247-BE59-4DEF94151413}"/>
              </a:ext>
            </a:extLst>
          </p:cNvPr>
          <p:cNvSpPr>
            <a:spLocks noGrp="1"/>
          </p:cNvSpPr>
          <p:nvPr/>
        </p:nvSpPr>
        <p:spPr>
          <a:xfrm>
            <a:off x="8620125" y="1565180"/>
            <a:ext cx="2247900" cy="165735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0478">
            <a:solidFill>
              <a:srgbClr val="D9D4C8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A5A0F46-524C-4C13-9161-FCF8A0621737}"/>
              </a:ext>
            </a:extLst>
          </p:cNvPr>
          <p:cNvSpPr>
            <a:spLocks noGrp="1"/>
          </p:cNvSpPr>
          <p:nvPr/>
        </p:nvSpPr>
        <p:spPr>
          <a:xfrm>
            <a:off x="8620685" y="1572326"/>
            <a:ext cx="2247900" cy="95250"/>
          </a:xfrm>
          <a:prstGeom prst="rect">
            <a:avLst/>
          </a:prstGeom>
          <a:solidFill>
            <a:srgbClr val="F6B3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72D875D-4563-4AE3-9F08-8AF77B9000A7}"/>
              </a:ext>
            </a:extLst>
          </p:cNvPr>
          <p:cNvSpPr>
            <a:spLocks noGrp="1"/>
          </p:cNvSpPr>
          <p:nvPr/>
        </p:nvSpPr>
        <p:spPr>
          <a:xfrm>
            <a:off x="8820150" y="1768708"/>
            <a:ext cx="18288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32033"/>
                </a:solidFill>
              </a:defRPr>
            </a:pPr>
            <a:r>
              <a:rPr sz="2400" b="1">
                <a:solidFill>
                  <a:srgbClr val="132033"/>
                </a:solidFill>
              </a:rPr>
              <a:t>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350F0E3-D56A-4ADB-AFEC-791D4DD8C5C9}"/>
              </a:ext>
            </a:extLst>
          </p:cNvPr>
          <p:cNvSpPr>
            <a:spLocks noGrp="1"/>
          </p:cNvSpPr>
          <p:nvPr/>
        </p:nvSpPr>
        <p:spPr>
          <a:xfrm>
            <a:off x="8839200" y="2266950"/>
            <a:ext cx="1828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475569"/>
                </a:solidFill>
              </a:defRPr>
            </a:pPr>
            <a:r>
              <a:rPr sz="1125" b="1">
                <a:solidFill>
                  <a:srgbClr val="475569"/>
                </a:solidFill>
              </a:rPr>
              <a:t>report per employee-month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5F1226E-9BA2-4C63-B526-1E9CEB992934}"/>
              </a:ext>
            </a:extLst>
          </p:cNvPr>
          <p:cNvSpPr>
            <a:spLocks noGrp="1"/>
          </p:cNvSpPr>
          <p:nvPr/>
        </p:nvSpPr>
        <p:spPr>
          <a:xfrm>
            <a:off x="8839200" y="2590800"/>
            <a:ext cx="1828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32033"/>
                </a:solidFill>
              </a:defRPr>
            </a:pPr>
            <a:r>
              <a:rPr sz="1125" b="0">
                <a:solidFill>
                  <a:srgbClr val="132033"/>
                </a:solidFill>
              </a:rPr>
              <a:t>Each employee-month is constrained</a:t>
            </a:r>
          </a:p>
          <a:p>
            <a:pPr algn="l">
              <a:defRPr sz="1125" b="0">
                <a:solidFill>
                  <a:srgbClr val="132033"/>
                </a:solidFill>
              </a:defRPr>
            </a:pPr>
            <a:r>
              <a:rPr sz="1125" b="0">
                <a:solidFill>
                  <a:srgbClr val="132033"/>
                </a:solidFill>
              </a:rPr>
              <a:t>to a single report record.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F449E60-FC1A-44B1-9E76-E908D987E8FF}"/>
              </a:ext>
            </a:extLst>
          </p:cNvPr>
          <p:cNvSpPr>
            <a:spLocks noGrp="1"/>
          </p:cNvSpPr>
          <p:nvPr/>
        </p:nvSpPr>
        <p:spPr>
          <a:xfrm>
            <a:off x="8572500" y="3981450"/>
            <a:ext cx="2190750" cy="2190750"/>
          </a:xfrm>
          <a:prstGeom prst="ellipse">
            <a:avLst/>
          </a:prstGeom>
          <a:solidFill>
            <a:srgbClr val="FFFFFF">
              <a:alpha val="4706"/>
            </a:srgbClr>
          </a:solidFill>
          <a:ln w="9525">
            <a:solidFill>
              <a:srgbClr val="FFFFFF">
                <a:alpha val="11765"/>
              </a:srgbClr>
            </a:solidFill>
            <a:prstDash val="solid"/>
          </a:ln>
        </p:spPr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3EEBC8A-DBED-45A3-8140-1B626A984D9D}"/>
              </a:ext>
            </a:extLst>
          </p:cNvPr>
          <p:cNvSpPr>
            <a:spLocks noGrp="1"/>
          </p:cNvSpPr>
          <p:nvPr/>
        </p:nvSpPr>
        <p:spPr>
          <a:xfrm>
            <a:off x="9239250" y="4476750"/>
            <a:ext cx="857250" cy="857250"/>
          </a:xfrm>
          <a:prstGeom prst="ellipse">
            <a:avLst/>
          </a:prstGeom>
          <a:solidFill>
            <a:srgbClr val="F6B3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584D4F1-0071-4F21-BBC9-9B9977A742DB}"/>
              </a:ext>
            </a:extLst>
          </p:cNvPr>
          <p:cNvSpPr>
            <a:spLocks noGrp="1"/>
          </p:cNvSpPr>
          <p:nvPr/>
        </p:nvSpPr>
        <p:spPr>
          <a:xfrm>
            <a:off x="10096500" y="3714750"/>
            <a:ext cx="533400" cy="533400"/>
          </a:xfrm>
          <a:prstGeom prst="ellipse">
            <a:avLst/>
          </a:prstGeom>
          <a:solidFill>
            <a:srgbClr val="4CC9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16CB295-A992-4507-A1E0-BC7D5D96BA44}"/>
              </a:ext>
            </a:extLst>
          </p:cNvPr>
          <p:cNvSpPr>
            <a:spLocks noGrp="1"/>
          </p:cNvSpPr>
          <p:nvPr/>
        </p:nvSpPr>
        <p:spPr>
          <a:xfrm>
            <a:off x="666750" y="6457950"/>
            <a:ext cx="495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D8E0EE"/>
                </a:solidFill>
              </a:defRPr>
            </a:pPr>
            <a:r>
              <a:rPr sz="750" b="0">
                <a:solidFill>
                  <a:srgbClr val="D8E0EE"/>
                </a:solidFill>
              </a:rPr>
              <a:t>LoE Hub technical overview | April 2026</a:t>
            </a:r>
          </a:p>
        </p:txBody>
      </p:sp>
    </p:spTree>
    <p:extLst>
      <p:ext uri="{BB962C8B-B14F-4D97-AF65-F5344CB8AC3E}">
        <p14:creationId xmlns:p14="http://schemas.microsoft.com/office/powerpoint/2010/main" val="5719337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7B8F4C20-6430-4907-B4C9-5974FF53D89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13A6E7F-1314-4968-9238-A85515B0613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72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F569F6F-97CB-4789-BE38-CC8700DB62D6}"/>
              </a:ext>
            </a:extLst>
          </p:cNvPr>
          <p:cNvSpPr>
            <a:spLocks noGrp="1"/>
          </p:cNvSpPr>
          <p:nvPr/>
        </p:nvSpPr>
        <p:spPr>
          <a:xfrm>
            <a:off x="7334250" y="-1047750"/>
            <a:ext cx="4095750" cy="4095750"/>
          </a:xfrm>
          <a:prstGeom prst="ellipse">
            <a:avLst/>
          </a:prstGeom>
          <a:solidFill>
            <a:srgbClr val="20345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C9BB139-CFBB-4822-8853-39EBE34DF688}"/>
              </a:ext>
            </a:extLst>
          </p:cNvPr>
          <p:cNvSpPr>
            <a:spLocks noGrp="1"/>
          </p:cNvSpPr>
          <p:nvPr/>
        </p:nvSpPr>
        <p:spPr>
          <a:xfrm>
            <a:off x="9620250" y="4095750"/>
            <a:ext cx="3429000" cy="3429000"/>
          </a:xfrm>
          <a:prstGeom prst="ellipse">
            <a:avLst/>
          </a:prstGeom>
          <a:solidFill>
            <a:srgbClr val="17273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95ADDD-ADEF-4BD9-B0F7-F5CBE48EF9EA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11087100" cy="5676900"/>
          </a:xfrm>
          <a:prstGeom prst="rect">
            <a:avLst/>
          </a:prstGeom>
          <a:solidFill>
            <a:srgbClr val="FFFFFF">
              <a:alpha val="784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D59490-6BD5-4F48-A243-5A80D353A7DB}"/>
              </a:ext>
            </a:extLst>
          </p:cNvPr>
          <p:cNvSpPr>
            <a:spLocks noGrp="1"/>
          </p:cNvSpPr>
          <p:nvPr/>
        </p:nvSpPr>
        <p:spPr>
          <a:xfrm>
            <a:off x="666750" y="419100"/>
            <a:ext cx="495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CD878"/>
                </a:solidFill>
              </a:defRPr>
            </a:pPr>
            <a:r>
              <a:rPr sz="975" b="1">
                <a:solidFill>
                  <a:srgbClr val="FCD878"/>
                </a:solidFill>
              </a:rPr>
              <a:t>PRODUCT OPERATING MODEL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9C0418-4BED-4A1D-A4EE-B35D03732D8D}"/>
              </a:ext>
            </a:extLst>
          </p:cNvPr>
          <p:cNvSpPr>
            <a:spLocks noGrp="1"/>
          </p:cNvSpPr>
          <p:nvPr/>
        </p:nvSpPr>
        <p:spPr>
          <a:xfrm>
            <a:off x="10420350" y="419100"/>
            <a:ext cx="1047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02 / 08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F53B15-509E-4A28-AA40-BF48892C5CD1}"/>
              </a:ext>
            </a:extLst>
          </p:cNvPr>
          <p:cNvSpPr>
            <a:spLocks noGrp="1"/>
          </p:cNvSpPr>
          <p:nvPr/>
        </p:nvSpPr>
        <p:spPr>
          <a:xfrm>
            <a:off x="800100" y="1847850"/>
            <a:ext cx="6096000" cy="1333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Two-panel operating model with clear responsibility split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0656AF-0B3F-4109-B342-7ADDF48FB577}"/>
              </a:ext>
            </a:extLst>
          </p:cNvPr>
          <p:cNvSpPr>
            <a:spLocks noGrp="1"/>
          </p:cNvSpPr>
          <p:nvPr/>
        </p:nvSpPr>
        <p:spPr>
          <a:xfrm>
            <a:off x="819150" y="3143250"/>
            <a:ext cx="6096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DCE6F5"/>
                </a:solidFill>
              </a:defRPr>
            </a:pPr>
            <a:r>
              <a:rPr sz="1425" b="0">
                <a:solidFill>
                  <a:srgbClr val="DCE6F5"/>
                </a:solidFill>
              </a:rPr>
              <a:t>The system separates workforce control from self-service reporting while keeping one shared LoE rule engine underneath.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3E66685-C3BD-4D9E-953C-33A8F2389EF2}"/>
              </a:ext>
            </a:extLst>
          </p:cNvPr>
          <p:cNvSpPr>
            <a:spLocks noGrp="1"/>
          </p:cNvSpPr>
          <p:nvPr/>
        </p:nvSpPr>
        <p:spPr>
          <a:xfrm>
            <a:off x="800100" y="4000500"/>
            <a:ext cx="3276600" cy="1943100"/>
          </a:xfrm>
          <a:prstGeom prst="roundRect">
            <a:avLst>
              <a:gd name="adj" fmla="val 3922"/>
            </a:avLst>
          </a:prstGeom>
          <a:solidFill>
            <a:srgbClr val="FFFFFF">
              <a:alpha val="7843"/>
            </a:srgbClr>
          </a:solidFill>
          <a:ln w="10478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77CEFF-8EBD-4F82-B453-4B436CBAD82E}"/>
              </a:ext>
            </a:extLst>
          </p:cNvPr>
          <p:cNvSpPr>
            <a:spLocks noGrp="1"/>
          </p:cNvSpPr>
          <p:nvPr/>
        </p:nvSpPr>
        <p:spPr>
          <a:xfrm>
            <a:off x="800100" y="4000500"/>
            <a:ext cx="76200" cy="1943100"/>
          </a:xfrm>
          <a:prstGeom prst="rect">
            <a:avLst/>
          </a:prstGeom>
          <a:solidFill>
            <a:srgbClr val="F6B3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80AC21-F205-4D2F-A982-C807854BC207}"/>
              </a:ext>
            </a:extLst>
          </p:cNvPr>
          <p:cNvSpPr>
            <a:spLocks noGrp="1"/>
          </p:cNvSpPr>
          <p:nvPr/>
        </p:nvSpPr>
        <p:spPr>
          <a:xfrm>
            <a:off x="1047750" y="4229100"/>
            <a:ext cx="2876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CD878"/>
                </a:solidFill>
              </a:defRPr>
            </a:pPr>
            <a:r>
              <a:rPr sz="1050" b="1">
                <a:solidFill>
                  <a:srgbClr val="FCD878"/>
                </a:solidFill>
              </a:rPr>
              <a:t>Admin panel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8E5843-5D6D-4CE4-A68D-C9C93DFFE925}"/>
              </a:ext>
            </a:extLst>
          </p:cNvPr>
          <p:cNvSpPr>
            <a:spLocks noGrp="1"/>
          </p:cNvSpPr>
          <p:nvPr/>
        </p:nvSpPr>
        <p:spPr>
          <a:xfrm>
            <a:off x="1028700" y="4591050"/>
            <a:ext cx="28194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Filament command center for</a:t>
            </a:r>
          </a:p>
          <a:p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workforce setup, reporting</a:t>
            </a:r>
          </a:p>
          <a:p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oversight, analytics,</a:t>
            </a:r>
          </a:p>
          <a:p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exports, and month closures.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16694E2-98C2-4072-BA35-37077A7BA5BD}"/>
              </a:ext>
            </a:extLst>
          </p:cNvPr>
          <p:cNvSpPr>
            <a:spLocks noGrp="1"/>
          </p:cNvSpPr>
          <p:nvPr/>
        </p:nvSpPr>
        <p:spPr>
          <a:xfrm>
            <a:off x="4419600" y="4000500"/>
            <a:ext cx="3276600" cy="1943100"/>
          </a:xfrm>
          <a:prstGeom prst="roundRect">
            <a:avLst>
              <a:gd name="adj" fmla="val 3922"/>
            </a:avLst>
          </a:prstGeom>
          <a:solidFill>
            <a:srgbClr val="FFFFFF">
              <a:alpha val="7843"/>
            </a:srgbClr>
          </a:solidFill>
          <a:ln w="10478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D5D126E-BDCE-4EA7-B619-8B1F6F299ED2}"/>
              </a:ext>
            </a:extLst>
          </p:cNvPr>
          <p:cNvSpPr>
            <a:spLocks noGrp="1"/>
          </p:cNvSpPr>
          <p:nvPr/>
        </p:nvSpPr>
        <p:spPr>
          <a:xfrm>
            <a:off x="4419600" y="4000500"/>
            <a:ext cx="76200" cy="1943100"/>
          </a:xfrm>
          <a:prstGeom prst="rect">
            <a:avLst/>
          </a:prstGeom>
          <a:solidFill>
            <a:srgbClr val="4CC9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41FD795-184B-480A-A48A-2E8556B866B1}"/>
              </a:ext>
            </a:extLst>
          </p:cNvPr>
          <p:cNvSpPr>
            <a:spLocks noGrp="1"/>
          </p:cNvSpPr>
          <p:nvPr/>
        </p:nvSpPr>
        <p:spPr>
          <a:xfrm>
            <a:off x="4667250" y="4229100"/>
            <a:ext cx="2876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CD878"/>
                </a:solidFill>
              </a:defRPr>
            </a:pPr>
            <a:r>
              <a:rPr sz="1050" b="1">
                <a:solidFill>
                  <a:srgbClr val="FCD878"/>
                </a:solidFill>
              </a:rPr>
              <a:t>Employee panel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6F4285C-D2CE-40B4-BCC7-DFB7D451B8B8}"/>
              </a:ext>
            </a:extLst>
          </p:cNvPr>
          <p:cNvSpPr>
            <a:spLocks noGrp="1"/>
          </p:cNvSpPr>
          <p:nvPr/>
        </p:nvSpPr>
        <p:spPr>
          <a:xfrm>
            <a:off x="4648200" y="4591050"/>
            <a:ext cx="28194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Self-service surface for</a:t>
            </a:r>
          </a:p>
          <a:p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current-month effort entry,</a:t>
            </a:r>
          </a:p>
          <a:p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submission, history review,</a:t>
            </a:r>
          </a:p>
          <a:p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and personal analytics.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59DF99F-DE01-4365-8D13-206AFECF8459}"/>
              </a:ext>
            </a:extLst>
          </p:cNvPr>
          <p:cNvSpPr>
            <a:spLocks noGrp="1"/>
          </p:cNvSpPr>
          <p:nvPr/>
        </p:nvSpPr>
        <p:spPr>
          <a:xfrm>
            <a:off x="8039100" y="4000500"/>
            <a:ext cx="3276600" cy="1943100"/>
          </a:xfrm>
          <a:prstGeom prst="roundRect">
            <a:avLst>
              <a:gd name="adj" fmla="val 3922"/>
            </a:avLst>
          </a:prstGeom>
          <a:solidFill>
            <a:srgbClr val="FFFFFF">
              <a:alpha val="7843"/>
            </a:srgbClr>
          </a:solidFill>
          <a:ln w="10478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2EA8BE5-FA1E-4C94-9AEC-650049ACDB30}"/>
              </a:ext>
            </a:extLst>
          </p:cNvPr>
          <p:cNvSpPr>
            <a:spLocks noGrp="1"/>
          </p:cNvSpPr>
          <p:nvPr/>
        </p:nvSpPr>
        <p:spPr>
          <a:xfrm>
            <a:off x="8039100" y="4000500"/>
            <a:ext cx="76200" cy="1943100"/>
          </a:xfrm>
          <a:prstGeom prst="rect">
            <a:avLst/>
          </a:prstGeom>
          <a:solidFill>
            <a:srgbClr val="F377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1C7ADB8-2CB3-437C-9A9E-63C59A56207D}"/>
              </a:ext>
            </a:extLst>
          </p:cNvPr>
          <p:cNvSpPr>
            <a:spLocks noGrp="1"/>
          </p:cNvSpPr>
          <p:nvPr/>
        </p:nvSpPr>
        <p:spPr>
          <a:xfrm>
            <a:off x="8286750" y="4229100"/>
            <a:ext cx="2876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CD878"/>
                </a:solidFill>
              </a:defRPr>
            </a:pPr>
            <a:r>
              <a:rPr sz="1050" b="1">
                <a:solidFill>
                  <a:srgbClr val="FCD878"/>
                </a:solidFill>
              </a:rPr>
              <a:t>Shared domain layer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8891629-4915-4593-9F34-B2406D8097E9}"/>
              </a:ext>
            </a:extLst>
          </p:cNvPr>
          <p:cNvSpPr>
            <a:spLocks noGrp="1"/>
          </p:cNvSpPr>
          <p:nvPr/>
        </p:nvSpPr>
        <p:spPr>
          <a:xfrm>
            <a:off x="8267700" y="4591050"/>
            <a:ext cx="28194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Laravel services calculate</a:t>
            </a:r>
          </a:p>
          <a:p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capacity, convert hours into</a:t>
            </a:r>
          </a:p>
          <a:p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percentages, enforce lock</a:t>
            </a:r>
          </a:p>
          <a:p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rules, and trigger alerts.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8952DF6-29F0-4BAD-B357-BD26AD4C3388}"/>
              </a:ext>
            </a:extLst>
          </p:cNvPr>
          <p:cNvSpPr>
            <a:spLocks noGrp="1"/>
          </p:cNvSpPr>
          <p:nvPr/>
        </p:nvSpPr>
        <p:spPr>
          <a:xfrm>
            <a:off x="666750" y="6457950"/>
            <a:ext cx="495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D8E0EE"/>
                </a:solidFill>
              </a:defRPr>
            </a:pPr>
            <a:r>
              <a:rPr sz="750" b="0">
                <a:solidFill>
                  <a:srgbClr val="D8E0EE"/>
                </a:solidFill>
              </a:rPr>
              <a:t>Implemented rules and workflows from the active application baseline.</a:t>
            </a:r>
          </a:p>
        </p:txBody>
      </p:sp>
    </p:spTree>
    <p:extLst>
      <p:ext uri="{BB962C8B-B14F-4D97-AF65-F5344CB8AC3E}">
        <p14:creationId xmlns:p14="http://schemas.microsoft.com/office/powerpoint/2010/main" val="1407727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7B8F4C20-6430-4907-B4C9-5974FF53D89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8AD323-6F34-488F-AE66-4AD4C4EA3A0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4238B2-B16A-440C-9B4C-E04DAEB9F8A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466850"/>
          </a:xfrm>
          <a:prstGeom prst="rect">
            <a:avLst/>
          </a:prstGeom>
          <a:solidFill>
            <a:srgbClr val="0E172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4A5792F-4223-4075-912C-3CE61F4C15FF}"/>
              </a:ext>
            </a:extLst>
          </p:cNvPr>
          <p:cNvSpPr>
            <a:spLocks noGrp="1"/>
          </p:cNvSpPr>
          <p:nvPr/>
        </p:nvSpPr>
        <p:spPr>
          <a:xfrm>
            <a:off x="9906000" y="152400"/>
            <a:ext cx="2095500" cy="2095500"/>
          </a:xfrm>
          <a:prstGeom prst="ellipse">
            <a:avLst/>
          </a:prstGeom>
          <a:solidFill>
            <a:srgbClr val="294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C6CFF5A-8432-4DFB-915A-C41A4C7077FD}"/>
              </a:ext>
            </a:extLst>
          </p:cNvPr>
          <p:cNvSpPr>
            <a:spLocks noGrp="1"/>
          </p:cNvSpPr>
          <p:nvPr/>
        </p:nvSpPr>
        <p:spPr>
          <a:xfrm>
            <a:off x="8477250" y="571500"/>
            <a:ext cx="1143000" cy="1143000"/>
          </a:xfrm>
          <a:prstGeom prst="ellipse">
            <a:avLst/>
          </a:prstGeom>
          <a:solidFill>
            <a:srgbClr val="F4C95D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8C59BD9-C2FF-4C86-952C-3CC9AFE4CD43}"/>
              </a:ext>
            </a:extLst>
          </p:cNvPr>
          <p:cNvSpPr>
            <a:spLocks noGrp="1"/>
          </p:cNvSpPr>
          <p:nvPr/>
        </p:nvSpPr>
        <p:spPr>
          <a:xfrm>
            <a:off x="552450" y="1733550"/>
            <a:ext cx="11087100" cy="4495800"/>
          </a:xfrm>
          <a:prstGeom prst="roundRect">
            <a:avLst>
              <a:gd name="adj" fmla="val 1695"/>
            </a:avLst>
          </a:prstGeom>
          <a:solidFill>
            <a:srgbClr val="FBF8F2"/>
          </a:solidFill>
          <a:ln w="9525">
            <a:solidFill>
              <a:srgbClr val="D9D4C8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4A223F-E0A3-4311-A4AE-2BBB232AF79E}"/>
              </a:ext>
            </a:extLst>
          </p:cNvPr>
          <p:cNvSpPr>
            <a:spLocks noGrp="1"/>
          </p:cNvSpPr>
          <p:nvPr/>
        </p:nvSpPr>
        <p:spPr>
          <a:xfrm>
            <a:off x="666750" y="419100"/>
            <a:ext cx="495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6B31A"/>
                </a:solidFill>
              </a:defRPr>
            </a:pPr>
            <a:r>
              <a:rPr sz="975" b="1">
                <a:solidFill>
                  <a:srgbClr val="F6B31A"/>
                </a:solidFill>
              </a:rPr>
              <a:t>POLICY ENGINE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8BD27C-0029-410E-8B25-16399A3BD546}"/>
              </a:ext>
            </a:extLst>
          </p:cNvPr>
          <p:cNvSpPr>
            <a:spLocks noGrp="1"/>
          </p:cNvSpPr>
          <p:nvPr/>
        </p:nvSpPr>
        <p:spPr>
          <a:xfrm>
            <a:off x="10420350" y="419100"/>
            <a:ext cx="1047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0E1726"/>
                </a:solidFill>
              </a:defRPr>
            </a:pPr>
            <a:r>
              <a:rPr sz="975" b="1">
                <a:solidFill>
                  <a:srgbClr val="0E1726"/>
                </a:solidFill>
              </a:rPr>
              <a:t>03 / 08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2CB6E25-700C-483C-A19A-1EC13EFC240B}"/>
              </a:ext>
            </a:extLst>
          </p:cNvPr>
          <p:cNvSpPr>
            <a:spLocks noGrp="1"/>
          </p:cNvSpPr>
          <p:nvPr/>
        </p:nvSpPr>
        <p:spPr>
          <a:xfrm>
            <a:off x="800100" y="1847850"/>
            <a:ext cx="6572250" cy="1333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32033"/>
                </a:solidFill>
              </a:defRPr>
            </a:pPr>
            <a:r>
              <a:rPr sz="2850" b="1">
                <a:solidFill>
                  <a:srgbClr val="132033"/>
                </a:solidFill>
              </a:rPr>
              <a:t>Core thresholds and reporting guardrails are explicit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10B1D1D-A7A1-4A71-A434-E221DF5FF103}"/>
              </a:ext>
            </a:extLst>
          </p:cNvPr>
          <p:cNvSpPr>
            <a:spLocks noGrp="1"/>
          </p:cNvSpPr>
          <p:nvPr/>
        </p:nvSpPr>
        <p:spPr>
          <a:xfrm>
            <a:off x="819150" y="3143250"/>
            <a:ext cx="65722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The platform allows flexible submission but applies deterministic calculations, alerts, and closure policies.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B40B0F0-166D-4975-875E-03B275A5AF23}"/>
              </a:ext>
            </a:extLst>
          </p:cNvPr>
          <p:cNvSpPr>
            <a:spLocks noGrp="1"/>
          </p:cNvSpPr>
          <p:nvPr/>
        </p:nvSpPr>
        <p:spPr>
          <a:xfrm>
            <a:off x="819150" y="4000500"/>
            <a:ext cx="3276600" cy="1885950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 w="10478">
            <a:solidFill>
              <a:srgbClr val="D9D4C8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DEBD01-8293-4C0E-A96E-AA7E13881471}"/>
              </a:ext>
            </a:extLst>
          </p:cNvPr>
          <p:cNvSpPr>
            <a:spLocks noGrp="1"/>
          </p:cNvSpPr>
          <p:nvPr/>
        </p:nvSpPr>
        <p:spPr>
          <a:xfrm>
            <a:off x="819150" y="4000500"/>
            <a:ext cx="3276600" cy="95250"/>
          </a:xfrm>
          <a:prstGeom prst="rect">
            <a:avLst/>
          </a:prstGeom>
          <a:solidFill>
            <a:srgbClr val="F6B3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8EAFF23-81CD-4BFC-B52D-51EBAF0412BA}"/>
              </a:ext>
            </a:extLst>
          </p:cNvPr>
          <p:cNvSpPr>
            <a:spLocks noGrp="1"/>
          </p:cNvSpPr>
          <p:nvPr/>
        </p:nvSpPr>
        <p:spPr>
          <a:xfrm>
            <a:off x="1028700" y="4229100"/>
            <a:ext cx="2857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32033"/>
                </a:solidFill>
              </a:defRPr>
            </a:pPr>
            <a:r>
              <a:rPr sz="2400" b="1">
                <a:solidFill>
                  <a:srgbClr val="132033"/>
                </a:solidFill>
              </a:rPr>
              <a:t>8h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0B6E87-9D02-476D-A0CA-8295A38E0317}"/>
              </a:ext>
            </a:extLst>
          </p:cNvPr>
          <p:cNvSpPr>
            <a:spLocks noGrp="1"/>
          </p:cNvSpPr>
          <p:nvPr/>
        </p:nvSpPr>
        <p:spPr>
          <a:xfrm>
            <a:off x="1028700" y="478155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475569"/>
                </a:solidFill>
              </a:defRPr>
            </a:pPr>
            <a:r>
              <a:rPr sz="1125" b="1">
                <a:solidFill>
                  <a:srgbClr val="475569"/>
                </a:solidFill>
              </a:rPr>
              <a:t>Standard workday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946A53-9E5D-4FF7-A134-3BE5C776E98F}"/>
              </a:ext>
            </a:extLst>
          </p:cNvPr>
          <p:cNvSpPr>
            <a:spLocks noGrp="1"/>
          </p:cNvSpPr>
          <p:nvPr/>
        </p:nvSpPr>
        <p:spPr>
          <a:xfrm>
            <a:off x="1028700" y="5105400"/>
            <a:ext cx="2857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32033"/>
                </a:solidFill>
              </a:defRPr>
            </a:pPr>
            <a:r>
              <a:rPr sz="1125" b="0">
                <a:solidFill>
                  <a:srgbClr val="132033"/>
                </a:solidFill>
              </a:rPr>
              <a:t>All capacity calculations are</a:t>
            </a:r>
          </a:p>
          <a:p>
            <a:pPr algn="l">
              <a:defRPr sz="1125" b="0">
                <a:solidFill>
                  <a:srgbClr val="132033"/>
                </a:solidFill>
              </a:defRPr>
            </a:pPr>
            <a:r>
              <a:rPr sz="1125" b="0">
                <a:solidFill>
                  <a:srgbClr val="132033"/>
                </a:solidFill>
              </a:rPr>
              <a:t>based on an eight-hour day.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25C3C22-21C9-4C51-9AE2-BDBE91612F16}"/>
              </a:ext>
            </a:extLst>
          </p:cNvPr>
          <p:cNvSpPr>
            <a:spLocks noGrp="1"/>
          </p:cNvSpPr>
          <p:nvPr/>
        </p:nvSpPr>
        <p:spPr>
          <a:xfrm>
            <a:off x="4438650" y="4000500"/>
            <a:ext cx="3276600" cy="1885950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 w="10478">
            <a:solidFill>
              <a:srgbClr val="D9D4C8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BC1593C-8DA3-4F11-B071-C9A31A21F446}"/>
              </a:ext>
            </a:extLst>
          </p:cNvPr>
          <p:cNvSpPr>
            <a:spLocks noGrp="1"/>
          </p:cNvSpPr>
          <p:nvPr/>
        </p:nvSpPr>
        <p:spPr>
          <a:xfrm>
            <a:off x="4438650" y="4000500"/>
            <a:ext cx="3276600" cy="95250"/>
          </a:xfrm>
          <a:prstGeom prst="rect">
            <a:avLst/>
          </a:prstGeom>
          <a:solidFill>
            <a:srgbClr val="4CC9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E5FFE79-33A1-466C-BA0C-46829C1EEA64}"/>
              </a:ext>
            </a:extLst>
          </p:cNvPr>
          <p:cNvSpPr>
            <a:spLocks noGrp="1"/>
          </p:cNvSpPr>
          <p:nvPr/>
        </p:nvSpPr>
        <p:spPr>
          <a:xfrm>
            <a:off x="4648200" y="4229100"/>
            <a:ext cx="2857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32033"/>
                </a:solidFill>
              </a:defRPr>
            </a:pPr>
            <a:r>
              <a:rPr sz="2400" b="1">
                <a:solidFill>
                  <a:srgbClr val="132033"/>
                </a:solidFill>
              </a:rPr>
              <a:t>95%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14D9C84-3AA1-419D-8EF2-A1A889593B35}"/>
              </a:ext>
            </a:extLst>
          </p:cNvPr>
          <p:cNvSpPr>
            <a:spLocks noGrp="1"/>
          </p:cNvSpPr>
          <p:nvPr/>
        </p:nvSpPr>
        <p:spPr>
          <a:xfrm>
            <a:off x="4648200" y="478155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475569"/>
                </a:solidFill>
              </a:defRPr>
            </a:pPr>
            <a:r>
              <a:rPr sz="1125" b="1">
                <a:solidFill>
                  <a:srgbClr val="475569"/>
                </a:solidFill>
              </a:rPr>
              <a:t>Open-capacity trigger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E61DF62-BB4F-4313-8346-A24E134A71CC}"/>
              </a:ext>
            </a:extLst>
          </p:cNvPr>
          <p:cNvSpPr>
            <a:spLocks noGrp="1"/>
          </p:cNvSpPr>
          <p:nvPr/>
        </p:nvSpPr>
        <p:spPr>
          <a:xfrm>
            <a:off x="4648200" y="5105400"/>
            <a:ext cx="2857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32033"/>
                </a:solidFill>
              </a:defRPr>
            </a:pPr>
            <a:r>
              <a:rPr sz="1125" b="0">
                <a:solidFill>
                  <a:srgbClr val="132033"/>
                </a:solidFill>
              </a:rPr>
              <a:t>Below this threshold, the system</a:t>
            </a:r>
          </a:p>
          <a:p>
            <a:pPr algn="l">
              <a:defRPr sz="1125" b="0">
                <a:solidFill>
                  <a:srgbClr val="132033"/>
                </a:solidFill>
              </a:defRPr>
            </a:pPr>
            <a:r>
              <a:rPr sz="1125" b="0">
                <a:solidFill>
                  <a:srgbClr val="132033"/>
                </a:solidFill>
              </a:rPr>
              <a:t>auto-adds Open to New Projects.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0F16F9C-AEF3-41BB-BD35-EB625D29A166}"/>
              </a:ext>
            </a:extLst>
          </p:cNvPr>
          <p:cNvSpPr>
            <a:spLocks noGrp="1"/>
          </p:cNvSpPr>
          <p:nvPr/>
        </p:nvSpPr>
        <p:spPr>
          <a:xfrm>
            <a:off x="8058150" y="4000500"/>
            <a:ext cx="3276600" cy="1885950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 w="10478">
            <a:solidFill>
              <a:srgbClr val="D9D4C8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B0F1A77-0142-4C56-9E36-DADE9A9239DA}"/>
              </a:ext>
            </a:extLst>
          </p:cNvPr>
          <p:cNvSpPr>
            <a:spLocks noGrp="1"/>
          </p:cNvSpPr>
          <p:nvPr/>
        </p:nvSpPr>
        <p:spPr>
          <a:xfrm>
            <a:off x="8058150" y="4000500"/>
            <a:ext cx="3276600" cy="95250"/>
          </a:xfrm>
          <a:prstGeom prst="rect">
            <a:avLst/>
          </a:prstGeom>
          <a:solidFill>
            <a:srgbClr val="62B7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C2CDD45-B691-41A0-A081-BB8D11B276B9}"/>
              </a:ext>
            </a:extLst>
          </p:cNvPr>
          <p:cNvSpPr>
            <a:spLocks noGrp="1"/>
          </p:cNvSpPr>
          <p:nvPr/>
        </p:nvSpPr>
        <p:spPr>
          <a:xfrm>
            <a:off x="8267700" y="4229100"/>
            <a:ext cx="2857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32033"/>
                </a:solidFill>
              </a:defRPr>
            </a:pPr>
            <a:r>
              <a:rPr sz="2400" b="1">
                <a:solidFill>
                  <a:srgbClr val="132033"/>
                </a:solidFill>
              </a:rPr>
              <a:t>3 days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87651C4-E689-46A3-9A64-D01D2F1FCC93}"/>
              </a:ext>
            </a:extLst>
          </p:cNvPr>
          <p:cNvSpPr>
            <a:spLocks noGrp="1"/>
          </p:cNvSpPr>
          <p:nvPr/>
        </p:nvSpPr>
        <p:spPr>
          <a:xfrm>
            <a:off x="8267700" y="478155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475569"/>
                </a:solidFill>
              </a:defRPr>
            </a:pPr>
            <a:r>
              <a:rPr sz="1125" b="1">
                <a:solidFill>
                  <a:srgbClr val="475569"/>
                </a:solidFill>
              </a:rPr>
              <a:t>Grace period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6A10D3B-B900-47EA-90AA-AAD5FDF7F805}"/>
              </a:ext>
            </a:extLst>
          </p:cNvPr>
          <p:cNvSpPr>
            <a:spLocks noGrp="1"/>
          </p:cNvSpPr>
          <p:nvPr/>
        </p:nvSpPr>
        <p:spPr>
          <a:xfrm>
            <a:off x="8267700" y="5105400"/>
            <a:ext cx="2857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32033"/>
                </a:solidFill>
              </a:defRPr>
            </a:pPr>
            <a:r>
              <a:rPr sz="1125" b="0">
                <a:solidFill>
                  <a:srgbClr val="132033"/>
                </a:solidFill>
              </a:rPr>
              <a:t>A month stays in overdue follow-up</a:t>
            </a:r>
          </a:p>
          <a:p>
            <a:pPr algn="l">
              <a:defRPr sz="1125" b="0">
                <a:solidFill>
                  <a:srgbClr val="132033"/>
                </a:solidFill>
              </a:defRPr>
            </a:pPr>
            <a:r>
              <a:rPr sz="1125" b="0">
                <a:solidFill>
                  <a:srgbClr val="132033"/>
                </a:solidFill>
              </a:rPr>
              <a:t>for three days after month end.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A7D8775-2CED-4A43-9E7B-8C16BC1F3176}"/>
              </a:ext>
            </a:extLst>
          </p:cNvPr>
          <p:cNvSpPr>
            <a:spLocks noGrp="1"/>
          </p:cNvSpPr>
          <p:nvPr/>
        </p:nvSpPr>
        <p:spPr>
          <a:xfrm>
            <a:off x="8229600" y="2108950"/>
            <a:ext cx="2914650" cy="1238250"/>
          </a:xfrm>
          <a:prstGeom prst="roundRect">
            <a:avLst>
              <a:gd name="adj" fmla="val 6154"/>
            </a:avLst>
          </a:prstGeom>
          <a:solidFill>
            <a:srgbClr val="0E172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5C0C0D5-6EA0-40E9-999B-038D02ADB87A}"/>
              </a:ext>
            </a:extLst>
          </p:cNvPr>
          <p:cNvSpPr>
            <a:spLocks noGrp="1"/>
          </p:cNvSpPr>
          <p:nvPr/>
        </p:nvSpPr>
        <p:spPr>
          <a:xfrm>
            <a:off x="8477250" y="2266950"/>
            <a:ext cx="171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CD878"/>
                </a:solidFill>
              </a:defRPr>
            </a:pPr>
            <a:r>
              <a:rPr sz="900" b="1">
                <a:solidFill>
                  <a:srgbClr val="FCD878"/>
                </a:solidFill>
              </a:rPr>
              <a:t>Related target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7C15736-C843-4166-9E5A-460FC7F27180}"/>
              </a:ext>
            </a:extLst>
          </p:cNvPr>
          <p:cNvSpPr>
            <a:spLocks noGrp="1"/>
          </p:cNvSpPr>
          <p:nvPr/>
        </p:nvSpPr>
        <p:spPr>
          <a:xfrm>
            <a:off x="8477250" y="2552700"/>
            <a:ext cx="23622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100% remains the total monthly allocation reference point. Submission is allowed above or below target, but those conditions trigger admin alerts.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8D9A700-9AF2-4E45-AA5C-9F776CC7272B}"/>
              </a:ext>
            </a:extLst>
          </p:cNvPr>
          <p:cNvSpPr>
            <a:spLocks noGrp="1"/>
          </p:cNvSpPr>
          <p:nvPr/>
        </p:nvSpPr>
        <p:spPr>
          <a:xfrm>
            <a:off x="666750" y="6457950"/>
            <a:ext cx="495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475569"/>
                </a:solidFill>
              </a:defRPr>
            </a:pPr>
            <a:r>
              <a:rPr sz="750" b="0">
                <a:solidFill>
                  <a:srgbClr val="475569"/>
                </a:solidFill>
              </a:rPr>
              <a:t>Thresholds shown are hard-coded in the current application behavior.</a:t>
            </a:r>
          </a:p>
        </p:txBody>
      </p:sp>
    </p:spTree>
    <p:extLst>
      <p:ext uri="{BB962C8B-B14F-4D97-AF65-F5344CB8AC3E}">
        <p14:creationId xmlns:p14="http://schemas.microsoft.com/office/powerpoint/2010/main" val="1518010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lide Number Placeholder 5">
            <a:extLst>
              <a:ext uri="{FF2B5EF4-FFF2-40B4-BE49-F238E27FC236}">
                <a16:creationId xmlns:a16="http://schemas.microsoft.com/office/drawing/2014/main" id="{7B8F4C20-6430-4907-B4C9-5974FF53D89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6EC6E3-374B-4B90-BCE5-93A18BEC6ED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72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1693C76-493C-4763-AEAD-1EAE4A8A28E4}"/>
              </a:ext>
            </a:extLst>
          </p:cNvPr>
          <p:cNvSpPr>
            <a:spLocks noGrp="1"/>
          </p:cNvSpPr>
          <p:nvPr/>
        </p:nvSpPr>
        <p:spPr>
          <a:xfrm>
            <a:off x="7334250" y="-1047750"/>
            <a:ext cx="4095750" cy="4095750"/>
          </a:xfrm>
          <a:prstGeom prst="ellipse">
            <a:avLst/>
          </a:prstGeom>
          <a:solidFill>
            <a:srgbClr val="20345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1EF7B7D-89FD-4446-8372-CD5727C5D3E8}"/>
              </a:ext>
            </a:extLst>
          </p:cNvPr>
          <p:cNvSpPr>
            <a:spLocks noGrp="1"/>
          </p:cNvSpPr>
          <p:nvPr/>
        </p:nvSpPr>
        <p:spPr>
          <a:xfrm>
            <a:off x="9620250" y="4095750"/>
            <a:ext cx="3429000" cy="3429000"/>
          </a:xfrm>
          <a:prstGeom prst="ellipse">
            <a:avLst/>
          </a:prstGeom>
          <a:solidFill>
            <a:srgbClr val="17273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D32929-5B45-4882-819D-730F8795DEAC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11087100" cy="5676900"/>
          </a:xfrm>
          <a:prstGeom prst="rect">
            <a:avLst/>
          </a:prstGeom>
          <a:solidFill>
            <a:srgbClr val="FFFFFF">
              <a:alpha val="784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8BF007-0CA3-41DB-95D1-3BD4BAE01B4B}"/>
              </a:ext>
            </a:extLst>
          </p:cNvPr>
          <p:cNvSpPr>
            <a:spLocks noGrp="1"/>
          </p:cNvSpPr>
          <p:nvPr/>
        </p:nvSpPr>
        <p:spPr>
          <a:xfrm>
            <a:off x="666750" y="419100"/>
            <a:ext cx="495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CD878"/>
                </a:solidFill>
              </a:defRPr>
            </a:pPr>
            <a:r>
              <a:rPr sz="975" b="1">
                <a:solidFill>
                  <a:srgbClr val="FCD878"/>
                </a:solidFill>
              </a:rPr>
              <a:t>MONTHLY LIFECYCLE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163735-22AE-44ED-832F-6EED9619F23B}"/>
              </a:ext>
            </a:extLst>
          </p:cNvPr>
          <p:cNvSpPr>
            <a:spLocks noGrp="1"/>
          </p:cNvSpPr>
          <p:nvPr/>
        </p:nvSpPr>
        <p:spPr>
          <a:xfrm>
            <a:off x="10420350" y="419100"/>
            <a:ext cx="1047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04 / 08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2A6667-4770-4948-92D9-68B9CF78FE93}"/>
              </a:ext>
            </a:extLst>
          </p:cNvPr>
          <p:cNvSpPr>
            <a:spLocks noGrp="1"/>
          </p:cNvSpPr>
          <p:nvPr/>
        </p:nvSpPr>
        <p:spPr>
          <a:xfrm>
            <a:off x="800100" y="1847850"/>
            <a:ext cx="6096000" cy="1333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Each employee follows one report cycle per month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3AEA1F2-248D-4DBF-ACCD-94A9FC6FFE4C}"/>
              </a:ext>
            </a:extLst>
          </p:cNvPr>
          <p:cNvSpPr>
            <a:spLocks noGrp="1"/>
          </p:cNvSpPr>
          <p:nvPr/>
        </p:nvSpPr>
        <p:spPr>
          <a:xfrm>
            <a:off x="819150" y="3143250"/>
            <a:ext cx="6096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DCE6F5"/>
                </a:solidFill>
              </a:defRPr>
            </a:pPr>
            <a:r>
              <a:rPr sz="1425" b="0">
                <a:solidFill>
                  <a:srgbClr val="DCE6F5"/>
                </a:solidFill>
              </a:rPr>
              <a:t>The workflow supports draft entry, resubmission before closure, and hard locking after the grace period.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EF07F05-0E31-402D-A372-80F624AF0124}"/>
              </a:ext>
            </a:extLst>
          </p:cNvPr>
          <p:cNvSpPr>
            <a:spLocks noGrp="1"/>
          </p:cNvSpPr>
          <p:nvPr/>
        </p:nvSpPr>
        <p:spPr>
          <a:xfrm>
            <a:off x="800100" y="4000500"/>
            <a:ext cx="3276600" cy="1943100"/>
          </a:xfrm>
          <a:prstGeom prst="roundRect">
            <a:avLst>
              <a:gd name="adj" fmla="val 3922"/>
            </a:avLst>
          </a:prstGeom>
          <a:solidFill>
            <a:srgbClr val="FFFFFF">
              <a:alpha val="7843"/>
            </a:srgbClr>
          </a:solidFill>
          <a:ln w="10478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2D1820-6540-4EAF-9893-FDBF2337EEAB}"/>
              </a:ext>
            </a:extLst>
          </p:cNvPr>
          <p:cNvSpPr>
            <a:spLocks noGrp="1"/>
          </p:cNvSpPr>
          <p:nvPr/>
        </p:nvSpPr>
        <p:spPr>
          <a:xfrm>
            <a:off x="800100" y="4000500"/>
            <a:ext cx="76200" cy="1943100"/>
          </a:xfrm>
          <a:prstGeom prst="rect">
            <a:avLst/>
          </a:prstGeom>
          <a:solidFill>
            <a:srgbClr val="F6B3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C799B9-C0D1-46FC-A95B-7BA81F91B01F}"/>
              </a:ext>
            </a:extLst>
          </p:cNvPr>
          <p:cNvSpPr>
            <a:spLocks noGrp="1"/>
          </p:cNvSpPr>
          <p:nvPr/>
        </p:nvSpPr>
        <p:spPr>
          <a:xfrm>
            <a:off x="1047750" y="4229100"/>
            <a:ext cx="2876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CD878"/>
                </a:solidFill>
              </a:defRPr>
            </a:pPr>
            <a:r>
              <a:rPr sz="1050" b="1">
                <a:solidFill>
                  <a:srgbClr val="FCD878"/>
                </a:solidFill>
              </a:rPr>
              <a:t>Create and prefill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2FF9331-57ED-466D-89D0-709A495C7BEF}"/>
              </a:ext>
            </a:extLst>
          </p:cNvPr>
          <p:cNvSpPr>
            <a:spLocks noGrp="1"/>
          </p:cNvSpPr>
          <p:nvPr/>
        </p:nvSpPr>
        <p:spPr>
          <a:xfrm>
            <a:off x="1028700" y="4591050"/>
            <a:ext cx="28194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One report exists per</a:t>
            </a:r>
          </a:p>
          <a:p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employee-month.</a:t>
            </a:r>
          </a:p>
          <a:p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Previous-month project and</a:t>
            </a:r>
          </a:p>
          <a:p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time-off lines are copied</a:t>
            </a:r>
          </a:p>
          <a:p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forward, excluding the</a:t>
            </a:r>
          </a:p>
          <a:p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open-capacity line.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573AF8D-2ED8-4180-A812-D27DB367D229}"/>
              </a:ext>
            </a:extLst>
          </p:cNvPr>
          <p:cNvSpPr>
            <a:spLocks noGrp="1"/>
          </p:cNvSpPr>
          <p:nvPr/>
        </p:nvSpPr>
        <p:spPr>
          <a:xfrm>
            <a:off x="4419600" y="4000500"/>
            <a:ext cx="3276600" cy="1943100"/>
          </a:xfrm>
          <a:prstGeom prst="roundRect">
            <a:avLst>
              <a:gd name="adj" fmla="val 3922"/>
            </a:avLst>
          </a:prstGeom>
          <a:solidFill>
            <a:srgbClr val="FFFFFF">
              <a:alpha val="7843"/>
            </a:srgbClr>
          </a:solidFill>
          <a:ln w="10478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D2490CA-88D5-4DD3-9549-D05C062227E5}"/>
              </a:ext>
            </a:extLst>
          </p:cNvPr>
          <p:cNvSpPr>
            <a:spLocks noGrp="1"/>
          </p:cNvSpPr>
          <p:nvPr/>
        </p:nvSpPr>
        <p:spPr>
          <a:xfrm>
            <a:off x="4419600" y="4000500"/>
            <a:ext cx="76200" cy="1943100"/>
          </a:xfrm>
          <a:prstGeom prst="rect">
            <a:avLst/>
          </a:prstGeom>
          <a:solidFill>
            <a:srgbClr val="4CC9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67B8B3-CB4F-42BD-9804-39E242A1BA57}"/>
              </a:ext>
            </a:extLst>
          </p:cNvPr>
          <p:cNvSpPr>
            <a:spLocks noGrp="1"/>
          </p:cNvSpPr>
          <p:nvPr/>
        </p:nvSpPr>
        <p:spPr>
          <a:xfrm>
            <a:off x="4667250" y="4229100"/>
            <a:ext cx="2876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CD878"/>
                </a:solidFill>
              </a:defRPr>
            </a:pPr>
            <a:r>
              <a:rPr sz="1050" b="1">
                <a:solidFill>
                  <a:srgbClr val="FCD878"/>
                </a:solidFill>
              </a:rPr>
              <a:t>Submit and revise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5CDCF02-3D0E-4FC0-8243-BF41878DFAC5}"/>
              </a:ext>
            </a:extLst>
          </p:cNvPr>
          <p:cNvSpPr>
            <a:spLocks noGrp="1"/>
          </p:cNvSpPr>
          <p:nvPr/>
        </p:nvSpPr>
        <p:spPr>
          <a:xfrm>
            <a:off x="4648200" y="4591050"/>
            <a:ext cx="28194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Employees enter project</a:t>
            </a:r>
          </a:p>
          <a:p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hours and time off, save</a:t>
            </a:r>
          </a:p>
          <a:p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drafts, and submit. Editing</a:t>
            </a:r>
          </a:p>
          <a:p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after submission reverts the</a:t>
            </a:r>
          </a:p>
          <a:p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report to draft and alerts</a:t>
            </a:r>
          </a:p>
          <a:p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admins again.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7F56F42-6011-45DC-BFC9-437A18480F48}"/>
              </a:ext>
            </a:extLst>
          </p:cNvPr>
          <p:cNvSpPr>
            <a:spLocks noGrp="1"/>
          </p:cNvSpPr>
          <p:nvPr/>
        </p:nvSpPr>
        <p:spPr>
          <a:xfrm>
            <a:off x="8039100" y="4000500"/>
            <a:ext cx="3276600" cy="1943100"/>
          </a:xfrm>
          <a:prstGeom prst="roundRect">
            <a:avLst>
              <a:gd name="adj" fmla="val 3922"/>
            </a:avLst>
          </a:prstGeom>
          <a:solidFill>
            <a:srgbClr val="FFFFFF">
              <a:alpha val="7843"/>
            </a:srgbClr>
          </a:solidFill>
          <a:ln w="10478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EFDF5B4-F11B-40AC-9C94-0665734375C2}"/>
              </a:ext>
            </a:extLst>
          </p:cNvPr>
          <p:cNvSpPr>
            <a:spLocks noGrp="1"/>
          </p:cNvSpPr>
          <p:nvPr/>
        </p:nvSpPr>
        <p:spPr>
          <a:xfrm>
            <a:off x="8039100" y="4000500"/>
            <a:ext cx="76200" cy="1943100"/>
          </a:xfrm>
          <a:prstGeom prst="rect">
            <a:avLst/>
          </a:prstGeom>
          <a:solidFill>
            <a:srgbClr val="F377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D88FC48-202C-43C4-AF65-42EEC921B00E}"/>
              </a:ext>
            </a:extLst>
          </p:cNvPr>
          <p:cNvSpPr>
            <a:spLocks noGrp="1"/>
          </p:cNvSpPr>
          <p:nvPr/>
        </p:nvSpPr>
        <p:spPr>
          <a:xfrm>
            <a:off x="8286750" y="4229100"/>
            <a:ext cx="2876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CD878"/>
                </a:solidFill>
              </a:defRPr>
            </a:pPr>
            <a:r>
              <a:rPr sz="1050" b="1">
                <a:solidFill>
                  <a:srgbClr val="FCD878"/>
                </a:solidFill>
              </a:rPr>
              <a:t>Close and lock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A07CF78-0E73-42FF-94DD-026A8A1694EB}"/>
              </a:ext>
            </a:extLst>
          </p:cNvPr>
          <p:cNvSpPr>
            <a:spLocks noGrp="1"/>
          </p:cNvSpPr>
          <p:nvPr/>
        </p:nvSpPr>
        <p:spPr>
          <a:xfrm>
            <a:off x="8267700" y="4591050"/>
            <a:ext cx="28194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Admins may close the month</a:t>
            </a:r>
          </a:p>
          <a:p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inside the three-day grace</a:t>
            </a:r>
          </a:p>
          <a:p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period. Otherwise the system</a:t>
            </a:r>
          </a:p>
          <a:p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auto-closes and locks the</a:t>
            </a:r>
          </a:p>
          <a:p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month.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9D13F46-0D00-40CD-984A-84F9EC9CDAC0}"/>
              </a:ext>
            </a:extLst>
          </p:cNvPr>
          <p:cNvSpPr>
            <a:spLocks noGrp="1"/>
          </p:cNvSpPr>
          <p:nvPr/>
        </p:nvSpPr>
        <p:spPr>
          <a:xfrm>
            <a:off x="6933640" y="1439394"/>
            <a:ext cx="4457700" cy="2387599"/>
          </a:xfrm>
          <a:prstGeom prst="roundRect">
            <a:avLst>
              <a:gd name="adj" fmla="val 3448"/>
            </a:avLst>
          </a:prstGeom>
          <a:solidFill>
            <a:srgbClr val="FFFFFF">
              <a:alpha val="9412"/>
            </a:srgbClr>
          </a:solidFill>
          <a:ln w="9525">
            <a:solidFill>
              <a:srgbClr val="FFFFFF">
                <a:alpha val="16863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7EA6E6F-5D23-4B4D-BEED-D104990D35F2}"/>
              </a:ext>
            </a:extLst>
          </p:cNvPr>
          <p:cNvSpPr>
            <a:spLocks noGrp="1"/>
          </p:cNvSpPr>
          <p:nvPr/>
        </p:nvSpPr>
        <p:spPr>
          <a:xfrm>
            <a:off x="7239000" y="1580027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CD878"/>
                </a:solidFill>
              </a:defRPr>
            </a:pPr>
            <a:r>
              <a:rPr sz="1125" b="1" dirty="0">
                <a:solidFill>
                  <a:srgbClr val="FCD878"/>
                </a:solidFill>
              </a:rPr>
              <a:t>Monthly operating rhythm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6666ABB-8AC1-4429-B92C-BC53EBADE45B}"/>
              </a:ext>
            </a:extLst>
          </p:cNvPr>
          <p:cNvSpPr>
            <a:spLocks noGrp="1"/>
          </p:cNvSpPr>
          <p:nvPr/>
        </p:nvSpPr>
        <p:spPr>
          <a:xfrm>
            <a:off x="7258050" y="1989881"/>
            <a:ext cx="209550" cy="209550"/>
          </a:xfrm>
          <a:prstGeom prst="ellipse">
            <a:avLst/>
          </a:prstGeom>
          <a:solidFill>
            <a:srgbClr val="F6B3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DE04165-967F-42C2-998C-E5F395CB6394}"/>
              </a:ext>
            </a:extLst>
          </p:cNvPr>
          <p:cNvSpPr>
            <a:spLocks noGrp="1"/>
          </p:cNvSpPr>
          <p:nvPr/>
        </p:nvSpPr>
        <p:spPr>
          <a:xfrm>
            <a:off x="7353300" y="2242294"/>
            <a:ext cx="19050" cy="190500"/>
          </a:xfrm>
          <a:prstGeom prst="rect">
            <a:avLst/>
          </a:prstGeom>
          <a:solidFill>
            <a:srgbClr val="FFFFFF">
              <a:alpha val="25098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18960A6-BC8D-4509-8506-AE17E19B79F1}"/>
              </a:ext>
            </a:extLst>
          </p:cNvPr>
          <p:cNvSpPr>
            <a:spLocks noGrp="1"/>
          </p:cNvSpPr>
          <p:nvPr/>
        </p:nvSpPr>
        <p:spPr>
          <a:xfrm>
            <a:off x="7620000" y="2031624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 dirty="0">
                <a:solidFill>
                  <a:srgbClr val="FFFFFF"/>
                </a:solidFill>
              </a:rPr>
              <a:t>Days 1-27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04F9A10-4FC6-40C6-AC37-1B7A0F7D7B19}"/>
              </a:ext>
            </a:extLst>
          </p:cNvPr>
          <p:cNvSpPr>
            <a:spLocks noGrp="1"/>
          </p:cNvSpPr>
          <p:nvPr/>
        </p:nvSpPr>
        <p:spPr>
          <a:xfrm>
            <a:off x="8743950" y="2057397"/>
            <a:ext cx="21526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DCE6F5"/>
                </a:solidFill>
              </a:defRPr>
            </a:pPr>
            <a:r>
              <a:rPr sz="825" b="0" dirty="0">
                <a:solidFill>
                  <a:srgbClr val="DCE6F5"/>
                </a:solidFill>
              </a:rPr>
              <a:t>Employees work and can build</a:t>
            </a:r>
          </a:p>
          <a:p>
            <a:pPr algn="l">
              <a:defRPr sz="825" b="0">
                <a:solidFill>
                  <a:srgbClr val="DCE6F5"/>
                </a:solidFill>
              </a:defRPr>
            </a:pPr>
            <a:r>
              <a:rPr sz="825" b="0" dirty="0">
                <a:solidFill>
                  <a:srgbClr val="DCE6F5"/>
                </a:solidFill>
              </a:rPr>
              <a:t>the month report</a:t>
            </a:r>
          </a:p>
          <a:p>
            <a:pPr algn="l">
              <a:defRPr sz="825" b="0">
                <a:solidFill>
                  <a:srgbClr val="DCE6F5"/>
                </a:solidFill>
              </a:defRPr>
            </a:pPr>
            <a:r>
              <a:rPr sz="825" b="0" dirty="0">
                <a:solidFill>
                  <a:srgbClr val="DCE6F5"/>
                </a:solidFill>
              </a:rPr>
              <a:t>progressively.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8C1ADFE-CB33-4E0C-9AB8-D65B1A0A4477}"/>
              </a:ext>
            </a:extLst>
          </p:cNvPr>
          <p:cNvSpPr>
            <a:spLocks noGrp="1"/>
          </p:cNvSpPr>
          <p:nvPr/>
        </p:nvSpPr>
        <p:spPr>
          <a:xfrm>
            <a:off x="7248525" y="2458005"/>
            <a:ext cx="209550" cy="209550"/>
          </a:xfrm>
          <a:prstGeom prst="ellipse">
            <a:avLst/>
          </a:prstGeom>
          <a:solidFill>
            <a:srgbClr val="F6B3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0003D49-6CD8-46C3-9B15-AC35C49791C4}"/>
              </a:ext>
            </a:extLst>
          </p:cNvPr>
          <p:cNvSpPr>
            <a:spLocks noGrp="1"/>
          </p:cNvSpPr>
          <p:nvPr/>
        </p:nvSpPr>
        <p:spPr>
          <a:xfrm>
            <a:off x="7353300" y="2714062"/>
            <a:ext cx="19050" cy="190500"/>
          </a:xfrm>
          <a:prstGeom prst="rect">
            <a:avLst/>
          </a:prstGeom>
          <a:solidFill>
            <a:srgbClr val="FFFFFF">
              <a:alpha val="25098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E55A1F6-004A-4CC7-BFE0-B6259573E19D}"/>
              </a:ext>
            </a:extLst>
          </p:cNvPr>
          <p:cNvSpPr>
            <a:spLocks noGrp="1"/>
          </p:cNvSpPr>
          <p:nvPr/>
        </p:nvSpPr>
        <p:spPr>
          <a:xfrm>
            <a:off x="7620000" y="2503392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 dirty="0">
                <a:solidFill>
                  <a:srgbClr val="FFFFFF"/>
                </a:solidFill>
              </a:rPr>
              <a:t>Final 3 days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4386C49-2207-411A-B3C1-4B05C3AA7D09}"/>
              </a:ext>
            </a:extLst>
          </p:cNvPr>
          <p:cNvSpPr>
            <a:spLocks noGrp="1"/>
          </p:cNvSpPr>
          <p:nvPr/>
        </p:nvSpPr>
        <p:spPr>
          <a:xfrm>
            <a:off x="8743950" y="2484341"/>
            <a:ext cx="21526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DCE6F5"/>
                </a:solidFill>
              </a:defRPr>
            </a:pPr>
            <a:r>
              <a:rPr sz="825" b="0" dirty="0">
                <a:solidFill>
                  <a:srgbClr val="DCE6F5"/>
                </a:solidFill>
              </a:rPr>
              <a:t>Automatic reminders start if</a:t>
            </a:r>
          </a:p>
          <a:p>
            <a:pPr algn="l">
              <a:defRPr sz="825" b="0">
                <a:solidFill>
                  <a:srgbClr val="DCE6F5"/>
                </a:solidFill>
              </a:defRPr>
            </a:pPr>
            <a:r>
              <a:rPr sz="825" b="0" dirty="0">
                <a:solidFill>
                  <a:srgbClr val="DCE6F5"/>
                </a:solidFill>
              </a:rPr>
              <a:t>the month has not yet been</a:t>
            </a:r>
          </a:p>
          <a:p>
            <a:pPr algn="l">
              <a:defRPr sz="825" b="0">
                <a:solidFill>
                  <a:srgbClr val="DCE6F5"/>
                </a:solidFill>
              </a:defRPr>
            </a:pPr>
            <a:r>
              <a:rPr sz="825" b="0" dirty="0">
                <a:solidFill>
                  <a:srgbClr val="DCE6F5"/>
                </a:solidFill>
              </a:rPr>
              <a:t>submitted.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66DEFF84-ACA3-490F-9367-FE260472318C}"/>
              </a:ext>
            </a:extLst>
          </p:cNvPr>
          <p:cNvSpPr>
            <a:spLocks noGrp="1"/>
          </p:cNvSpPr>
          <p:nvPr/>
        </p:nvSpPr>
        <p:spPr>
          <a:xfrm>
            <a:off x="7258050" y="2895593"/>
            <a:ext cx="209550" cy="209550"/>
          </a:xfrm>
          <a:prstGeom prst="ellipse">
            <a:avLst/>
          </a:prstGeom>
          <a:solidFill>
            <a:srgbClr val="4CC9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3E857CE-85AF-42C1-96FA-5AFC3183AA0F}"/>
              </a:ext>
            </a:extLst>
          </p:cNvPr>
          <p:cNvSpPr>
            <a:spLocks noGrp="1"/>
          </p:cNvSpPr>
          <p:nvPr/>
        </p:nvSpPr>
        <p:spPr>
          <a:xfrm>
            <a:off x="7353300" y="3123077"/>
            <a:ext cx="19050" cy="190500"/>
          </a:xfrm>
          <a:prstGeom prst="rect">
            <a:avLst/>
          </a:prstGeom>
          <a:solidFill>
            <a:srgbClr val="FFFFFF">
              <a:alpha val="25098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26939BF-449C-41CD-9C4F-7E322EA44895}"/>
              </a:ext>
            </a:extLst>
          </p:cNvPr>
          <p:cNvSpPr>
            <a:spLocks noGrp="1"/>
          </p:cNvSpPr>
          <p:nvPr/>
        </p:nvSpPr>
        <p:spPr>
          <a:xfrm>
            <a:off x="7620000" y="2930337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 dirty="0">
                <a:solidFill>
                  <a:srgbClr val="FFFFFF"/>
                </a:solidFill>
              </a:rPr>
              <a:t>Next 3 days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A0C15F4-F070-48F3-8F1E-4BA09108BC38}"/>
              </a:ext>
            </a:extLst>
          </p:cNvPr>
          <p:cNvSpPr>
            <a:spLocks noGrp="1"/>
          </p:cNvSpPr>
          <p:nvPr/>
        </p:nvSpPr>
        <p:spPr>
          <a:xfrm>
            <a:off x="8743950" y="2902319"/>
            <a:ext cx="21526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DCE6F5"/>
                </a:solidFill>
              </a:defRPr>
            </a:pPr>
            <a:r>
              <a:rPr sz="825" b="0" dirty="0">
                <a:solidFill>
                  <a:srgbClr val="DCE6F5"/>
                </a:solidFill>
              </a:rPr>
              <a:t>Overdue reminders continue</a:t>
            </a:r>
          </a:p>
          <a:p>
            <a:pPr algn="l">
              <a:defRPr sz="825" b="0">
                <a:solidFill>
                  <a:srgbClr val="DCE6F5"/>
                </a:solidFill>
              </a:defRPr>
            </a:pPr>
            <a:r>
              <a:rPr sz="825" b="0" dirty="0">
                <a:solidFill>
                  <a:srgbClr val="DCE6F5"/>
                </a:solidFill>
              </a:rPr>
              <a:t>while admin still has the</a:t>
            </a:r>
          </a:p>
          <a:p>
            <a:pPr algn="l">
              <a:defRPr sz="825" b="0">
                <a:solidFill>
                  <a:srgbClr val="DCE6F5"/>
                </a:solidFill>
              </a:defRPr>
            </a:pPr>
            <a:r>
              <a:rPr sz="825" b="0" dirty="0">
                <a:solidFill>
                  <a:srgbClr val="DCE6F5"/>
                </a:solidFill>
              </a:rPr>
              <a:t>option to close manually.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9A57E3F-7549-4AC1-87BD-03E23B31653E}"/>
              </a:ext>
            </a:extLst>
          </p:cNvPr>
          <p:cNvSpPr>
            <a:spLocks noGrp="1"/>
          </p:cNvSpPr>
          <p:nvPr/>
        </p:nvSpPr>
        <p:spPr>
          <a:xfrm>
            <a:off x="7258050" y="3322539"/>
            <a:ext cx="209550" cy="209550"/>
          </a:xfrm>
          <a:prstGeom prst="ellipse">
            <a:avLst/>
          </a:prstGeom>
          <a:solidFill>
            <a:srgbClr val="4CC9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13B8FDA-664E-415E-B67D-C7CCA0A6D134}"/>
              </a:ext>
            </a:extLst>
          </p:cNvPr>
          <p:cNvSpPr>
            <a:spLocks noGrp="1"/>
          </p:cNvSpPr>
          <p:nvPr/>
        </p:nvSpPr>
        <p:spPr>
          <a:xfrm>
            <a:off x="7353300" y="3962400"/>
            <a:ext cx="19050" cy="0"/>
          </a:xfrm>
          <a:prstGeom prst="rect">
            <a:avLst/>
          </a:prstGeom>
          <a:solidFill>
            <a:srgbClr val="FFFFFF">
              <a:alpha val="25098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63C73FA-4A1A-48B5-BFE2-B186AD33245B}"/>
              </a:ext>
            </a:extLst>
          </p:cNvPr>
          <p:cNvSpPr>
            <a:spLocks noGrp="1"/>
          </p:cNvSpPr>
          <p:nvPr/>
        </p:nvSpPr>
        <p:spPr>
          <a:xfrm>
            <a:off x="7620000" y="3357281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 dirty="0">
                <a:solidFill>
                  <a:srgbClr val="FFFFFF"/>
                </a:solidFill>
              </a:rPr>
              <a:t>After deadline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FF60ACF-1EC2-4314-AB47-4D001DEFF141}"/>
              </a:ext>
            </a:extLst>
          </p:cNvPr>
          <p:cNvSpPr>
            <a:spLocks noGrp="1"/>
          </p:cNvSpPr>
          <p:nvPr/>
        </p:nvSpPr>
        <p:spPr>
          <a:xfrm>
            <a:off x="8743950" y="3338234"/>
            <a:ext cx="21526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DCE6F5"/>
                </a:solidFill>
              </a:defRPr>
            </a:pPr>
            <a:r>
              <a:rPr sz="825" b="0" dirty="0">
                <a:solidFill>
                  <a:srgbClr val="DCE6F5"/>
                </a:solidFill>
              </a:rPr>
              <a:t>The system auto-closes and</a:t>
            </a:r>
          </a:p>
          <a:p>
            <a:pPr algn="l">
              <a:defRPr sz="825" b="0">
                <a:solidFill>
                  <a:srgbClr val="DCE6F5"/>
                </a:solidFill>
              </a:defRPr>
            </a:pPr>
            <a:r>
              <a:rPr sz="825" b="0" dirty="0">
                <a:solidFill>
                  <a:srgbClr val="DCE6F5"/>
                </a:solidFill>
              </a:rPr>
              <a:t>every report for that month</a:t>
            </a:r>
          </a:p>
          <a:p>
            <a:pPr algn="l">
              <a:defRPr sz="825" b="0">
                <a:solidFill>
                  <a:srgbClr val="DCE6F5"/>
                </a:solidFill>
              </a:defRPr>
            </a:pPr>
            <a:r>
              <a:rPr sz="825" b="0" dirty="0">
                <a:solidFill>
                  <a:srgbClr val="DCE6F5"/>
                </a:solidFill>
              </a:rPr>
              <a:t>becomes locked.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320CF18-EB7E-448A-A46B-4DDA06967CF8}"/>
              </a:ext>
            </a:extLst>
          </p:cNvPr>
          <p:cNvSpPr>
            <a:spLocks noGrp="1"/>
          </p:cNvSpPr>
          <p:nvPr/>
        </p:nvSpPr>
        <p:spPr>
          <a:xfrm>
            <a:off x="666750" y="6457950"/>
            <a:ext cx="495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D8E0EE"/>
                </a:solidFill>
              </a:defRPr>
            </a:pPr>
            <a:r>
              <a:rPr sz="750" b="0">
                <a:solidFill>
                  <a:srgbClr val="D8E0EE"/>
                </a:solidFill>
              </a:rPr>
              <a:t>Implemented rules and workflows from the active application baseline.</a:t>
            </a:r>
          </a:p>
        </p:txBody>
      </p:sp>
    </p:spTree>
    <p:extLst>
      <p:ext uri="{BB962C8B-B14F-4D97-AF65-F5344CB8AC3E}">
        <p14:creationId xmlns:p14="http://schemas.microsoft.com/office/powerpoint/2010/main" val="2036011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7B8F4C20-6430-4907-B4C9-5974FF53D89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58B4EF-7E96-44E7-B0BD-1058151C355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8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F885919-0C5C-4CA7-92E6-C5744E9665E5}"/>
              </a:ext>
            </a:extLst>
          </p:cNvPr>
          <p:cNvSpPr>
            <a:spLocks noGrp="1"/>
          </p:cNvSpPr>
          <p:nvPr/>
        </p:nvSpPr>
        <p:spPr>
          <a:xfrm>
            <a:off x="-1143000" y="4476750"/>
            <a:ext cx="3048000" cy="3048000"/>
          </a:xfrm>
          <a:prstGeom prst="ellipse">
            <a:avLst/>
          </a:prstGeom>
          <a:solidFill>
            <a:srgbClr val="FFD67C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96A2AF5-DC9A-4F20-96B3-8933CE679F2C}"/>
              </a:ext>
            </a:extLst>
          </p:cNvPr>
          <p:cNvSpPr>
            <a:spLocks noGrp="1"/>
          </p:cNvSpPr>
          <p:nvPr/>
        </p:nvSpPr>
        <p:spPr>
          <a:xfrm>
            <a:off x="10001250" y="-762000"/>
            <a:ext cx="2667000" cy="2667000"/>
          </a:xfrm>
          <a:prstGeom prst="ellipse">
            <a:avLst/>
          </a:prstGeom>
          <a:solidFill>
            <a:srgbClr val="A6EAD6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00EBDF-F202-4758-ABE1-184A5CC0CC4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105150" cy="6858000"/>
          </a:xfrm>
          <a:prstGeom prst="rect">
            <a:avLst/>
          </a:prstGeom>
          <a:solidFill>
            <a:srgbClr val="0E172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10C7BB-7814-4094-9764-8A8D16D64BA8}"/>
              </a:ext>
            </a:extLst>
          </p:cNvPr>
          <p:cNvSpPr>
            <a:spLocks noGrp="1"/>
          </p:cNvSpPr>
          <p:nvPr/>
        </p:nvSpPr>
        <p:spPr>
          <a:xfrm>
            <a:off x="3105150" y="0"/>
            <a:ext cx="133350" cy="6858000"/>
          </a:xfrm>
          <a:prstGeom prst="rect">
            <a:avLst/>
          </a:prstGeom>
          <a:solidFill>
            <a:srgbClr val="F6B3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6945FD-F909-467E-85A7-2A4B241950B3}"/>
              </a:ext>
            </a:extLst>
          </p:cNvPr>
          <p:cNvSpPr>
            <a:spLocks noGrp="1"/>
          </p:cNvSpPr>
          <p:nvPr/>
        </p:nvSpPr>
        <p:spPr>
          <a:xfrm>
            <a:off x="666750" y="419100"/>
            <a:ext cx="495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6B31A"/>
                </a:solidFill>
              </a:defRPr>
            </a:pPr>
            <a:r>
              <a:rPr sz="975" b="1">
                <a:solidFill>
                  <a:srgbClr val="F6B31A"/>
                </a:solidFill>
              </a:rPr>
              <a:t>CALCULATION LOGIC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EAD8AD-4F04-4EDF-85F2-0125CC2FF5A7}"/>
              </a:ext>
            </a:extLst>
          </p:cNvPr>
          <p:cNvSpPr>
            <a:spLocks noGrp="1"/>
          </p:cNvSpPr>
          <p:nvPr/>
        </p:nvSpPr>
        <p:spPr>
          <a:xfrm>
            <a:off x="10420350" y="419100"/>
            <a:ext cx="1047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0E1726"/>
                </a:solidFill>
              </a:defRPr>
            </a:pPr>
            <a:r>
              <a:rPr sz="975" b="1">
                <a:solidFill>
                  <a:srgbClr val="0E1726"/>
                </a:solidFill>
              </a:rPr>
              <a:t>05 / 08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07946C-22BE-469A-BDE2-D976F2E5A617}"/>
              </a:ext>
            </a:extLst>
          </p:cNvPr>
          <p:cNvSpPr>
            <a:spLocks noGrp="1"/>
          </p:cNvSpPr>
          <p:nvPr/>
        </p:nvSpPr>
        <p:spPr>
          <a:xfrm>
            <a:off x="3581400" y="895350"/>
            <a:ext cx="7429500" cy="1333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32033"/>
                </a:solidFill>
              </a:defRPr>
            </a:pPr>
            <a:r>
              <a:rPr sz="2850" b="1" dirty="0">
                <a:solidFill>
                  <a:srgbClr val="132033"/>
                </a:solidFill>
              </a:rPr>
              <a:t>L</a:t>
            </a:r>
            <a:r>
              <a:rPr lang="en-US" sz="2850" b="1" dirty="0">
                <a:solidFill>
                  <a:srgbClr val="132033"/>
                </a:solidFill>
              </a:rPr>
              <a:t>O</a:t>
            </a:r>
            <a:r>
              <a:rPr sz="2850" b="1" dirty="0">
                <a:solidFill>
                  <a:srgbClr val="132033"/>
                </a:solidFill>
              </a:rPr>
              <a:t>E calculations combine calendar rules with line-level effort types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815F42-40BD-4A11-BF17-23BE29566780}"/>
              </a:ext>
            </a:extLst>
          </p:cNvPr>
          <p:cNvSpPr>
            <a:spLocks noGrp="1"/>
          </p:cNvSpPr>
          <p:nvPr/>
        </p:nvSpPr>
        <p:spPr>
          <a:xfrm>
            <a:off x="3600450" y="2190750"/>
            <a:ext cx="6858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Capacity is computed from working days, then each entered line contributes to monthly totals and variance logic.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C9E2799-1572-4146-B70F-7EA1755B13DE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CD878"/>
                </a:solidFill>
              </a:defRPr>
            </a:pPr>
            <a:r>
              <a:rPr sz="1050" b="1">
                <a:solidFill>
                  <a:srgbClr val="FCD878"/>
                </a:solidFill>
              </a:rPr>
              <a:t>Scope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D03CBAB-AD2D-4582-BE3D-CA3FADC7A505}"/>
              </a:ext>
            </a:extLst>
          </p:cNvPr>
          <p:cNvSpPr>
            <a:spLocks noGrp="1"/>
          </p:cNvSpPr>
          <p:nvPr/>
        </p:nvSpPr>
        <p:spPr>
          <a:xfrm>
            <a:off x="666750" y="1390650"/>
            <a:ext cx="20383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Operational</a:t>
            </a:r>
          </a:p>
          <a:p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technical view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F230BC9-6A57-46D6-8DEA-F61AE80AC7AB}"/>
              </a:ext>
            </a:extLst>
          </p:cNvPr>
          <p:cNvSpPr>
            <a:spLocks noGrp="1"/>
          </p:cNvSpPr>
          <p:nvPr/>
        </p:nvSpPr>
        <p:spPr>
          <a:xfrm>
            <a:off x="666750" y="2495550"/>
            <a:ext cx="20002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DCE6F5"/>
                </a:solidFill>
              </a:defRPr>
            </a:pPr>
            <a:r>
              <a:rPr sz="1200" b="0">
                <a:solidFill>
                  <a:srgbClr val="DCE6F5"/>
                </a:solidFill>
              </a:rPr>
              <a:t>Rules, workflows, and controls currently implemented in the product.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E0556EC-BFC3-45BF-99E7-81B26B913117}"/>
              </a:ext>
            </a:extLst>
          </p:cNvPr>
          <p:cNvSpPr>
            <a:spLocks noGrp="1"/>
          </p:cNvSpPr>
          <p:nvPr/>
        </p:nvSpPr>
        <p:spPr>
          <a:xfrm>
            <a:off x="3581400" y="2800350"/>
            <a:ext cx="373380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0478">
            <a:solidFill>
              <a:srgbClr val="D9D4C8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C5F95ED-FA01-4F7E-898A-9D5BA97C72C4}"/>
              </a:ext>
            </a:extLst>
          </p:cNvPr>
          <p:cNvSpPr>
            <a:spLocks noGrp="1"/>
          </p:cNvSpPr>
          <p:nvPr/>
        </p:nvSpPr>
        <p:spPr>
          <a:xfrm>
            <a:off x="3581400" y="2800350"/>
            <a:ext cx="76200" cy="1619250"/>
          </a:xfrm>
          <a:prstGeom prst="rect">
            <a:avLst/>
          </a:prstGeom>
          <a:solidFill>
            <a:srgbClr val="F6B3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905DE20-F097-4A1E-A5F9-EFD34013698A}"/>
              </a:ext>
            </a:extLst>
          </p:cNvPr>
          <p:cNvSpPr>
            <a:spLocks noGrp="1"/>
          </p:cNvSpPr>
          <p:nvPr/>
        </p:nvSpPr>
        <p:spPr>
          <a:xfrm>
            <a:off x="3829050" y="3028950"/>
            <a:ext cx="3333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6B31A"/>
                </a:solidFill>
              </a:defRPr>
            </a:pPr>
            <a:r>
              <a:rPr sz="1050" b="1">
                <a:solidFill>
                  <a:srgbClr val="F6B31A"/>
                </a:solidFill>
              </a:rPr>
              <a:t>Working capacity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356AF5C-57EE-4C3A-899F-FDD04BC4DF17}"/>
              </a:ext>
            </a:extLst>
          </p:cNvPr>
          <p:cNvSpPr>
            <a:spLocks noGrp="1"/>
          </p:cNvSpPr>
          <p:nvPr/>
        </p:nvSpPr>
        <p:spPr>
          <a:xfrm>
            <a:off x="3810000" y="3390900"/>
            <a:ext cx="32766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32033"/>
                </a:solidFill>
              </a:defRPr>
            </a:pPr>
            <a:r>
              <a:rPr sz="1050" b="0">
                <a:solidFill>
                  <a:srgbClr val="132033"/>
                </a:solidFill>
              </a:rPr>
              <a:t>Available days exclude weekends,</a:t>
            </a:r>
          </a:p>
          <a:p>
            <a:pPr algn="l">
              <a:defRPr sz="1050" b="0">
                <a:solidFill>
                  <a:srgbClr val="132033"/>
                </a:solidFill>
              </a:defRPr>
            </a:pPr>
            <a:r>
              <a:rPr sz="1050" b="0">
                <a:solidFill>
                  <a:srgbClr val="132033"/>
                </a:solidFill>
              </a:rPr>
              <a:t>public holidays, and time before</a:t>
            </a:r>
          </a:p>
          <a:p>
            <a:pPr algn="l">
              <a:defRPr sz="1050" b="0">
                <a:solidFill>
                  <a:srgbClr val="132033"/>
                </a:solidFill>
              </a:defRPr>
            </a:pPr>
            <a:r>
              <a:rPr sz="1050" b="0">
                <a:solidFill>
                  <a:srgbClr val="132033"/>
                </a:solidFill>
              </a:rPr>
              <a:t>joining date. Monthly hours</a:t>
            </a:r>
          </a:p>
          <a:p>
            <a:pPr algn="l">
              <a:defRPr sz="1050" b="0">
                <a:solidFill>
                  <a:srgbClr val="132033"/>
                </a:solidFill>
              </a:defRPr>
            </a:pPr>
            <a:r>
              <a:rPr sz="1050" b="0">
                <a:solidFill>
                  <a:srgbClr val="132033"/>
                </a:solidFill>
              </a:rPr>
              <a:t>equal working days multiplied by</a:t>
            </a:r>
          </a:p>
          <a:p>
            <a:pPr algn="l">
              <a:defRPr sz="1050" b="0">
                <a:solidFill>
                  <a:srgbClr val="132033"/>
                </a:solidFill>
              </a:defRPr>
            </a:pPr>
            <a:r>
              <a:rPr sz="1050" b="0">
                <a:solidFill>
                  <a:srgbClr val="132033"/>
                </a:solidFill>
              </a:rPr>
              <a:t>eight.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08DE486-C6F3-45AA-9288-60069778ACE4}"/>
              </a:ext>
            </a:extLst>
          </p:cNvPr>
          <p:cNvSpPr>
            <a:spLocks noGrp="1"/>
          </p:cNvSpPr>
          <p:nvPr/>
        </p:nvSpPr>
        <p:spPr>
          <a:xfrm>
            <a:off x="7543800" y="2800350"/>
            <a:ext cx="373380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0478">
            <a:solidFill>
              <a:srgbClr val="D9D4C8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4DBAC7F-FCC7-460D-A8BD-C2E9278955D6}"/>
              </a:ext>
            </a:extLst>
          </p:cNvPr>
          <p:cNvSpPr>
            <a:spLocks noGrp="1"/>
          </p:cNvSpPr>
          <p:nvPr/>
        </p:nvSpPr>
        <p:spPr>
          <a:xfrm>
            <a:off x="7543800" y="2800350"/>
            <a:ext cx="76200" cy="1619250"/>
          </a:xfrm>
          <a:prstGeom prst="rect">
            <a:avLst/>
          </a:prstGeom>
          <a:solidFill>
            <a:srgbClr val="4CC9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A2A2681-1244-4B87-AE92-2BDED76DCB9F}"/>
              </a:ext>
            </a:extLst>
          </p:cNvPr>
          <p:cNvSpPr>
            <a:spLocks noGrp="1"/>
          </p:cNvSpPr>
          <p:nvPr/>
        </p:nvSpPr>
        <p:spPr>
          <a:xfrm>
            <a:off x="7791450" y="3028950"/>
            <a:ext cx="3333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4CC9A6"/>
                </a:solidFill>
              </a:defRPr>
            </a:pPr>
            <a:r>
              <a:rPr sz="1050" b="1">
                <a:solidFill>
                  <a:srgbClr val="4CC9A6"/>
                </a:solidFill>
              </a:rPr>
              <a:t>Line treatment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3BB1513-4798-435E-B5B2-40A2AA3257F1}"/>
              </a:ext>
            </a:extLst>
          </p:cNvPr>
          <p:cNvSpPr>
            <a:spLocks noGrp="1"/>
          </p:cNvSpPr>
          <p:nvPr/>
        </p:nvSpPr>
        <p:spPr>
          <a:xfrm>
            <a:off x="7772400" y="3390900"/>
            <a:ext cx="32766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32033"/>
                </a:solidFill>
              </a:defRPr>
            </a:pPr>
            <a:r>
              <a:rPr sz="1050" b="0">
                <a:solidFill>
                  <a:srgbClr val="132033"/>
                </a:solidFill>
              </a:rPr>
              <a:t>Project and time-off lines are</a:t>
            </a:r>
          </a:p>
          <a:p>
            <a:pPr algn="l">
              <a:defRPr sz="1050" b="0">
                <a:solidFill>
                  <a:srgbClr val="132033"/>
                </a:solidFill>
              </a:defRPr>
            </a:pPr>
            <a:r>
              <a:rPr sz="1050" b="0">
                <a:solidFill>
                  <a:srgbClr val="132033"/>
                </a:solidFill>
              </a:rPr>
              <a:t>manual. Open to New Projects is</a:t>
            </a:r>
          </a:p>
          <a:p>
            <a:pPr algn="l">
              <a:defRPr sz="1050" b="0">
                <a:solidFill>
                  <a:srgbClr val="132033"/>
                </a:solidFill>
              </a:defRPr>
            </a:pPr>
            <a:r>
              <a:rPr sz="1050" b="0">
                <a:solidFill>
                  <a:srgbClr val="132033"/>
                </a:solidFill>
              </a:rPr>
              <a:t>generated only when manual</a:t>
            </a:r>
          </a:p>
          <a:p>
            <a:pPr algn="l">
              <a:defRPr sz="1050" b="0">
                <a:solidFill>
                  <a:srgbClr val="132033"/>
                </a:solidFill>
              </a:defRPr>
            </a:pPr>
            <a:r>
              <a:rPr sz="1050" b="0">
                <a:solidFill>
                  <a:srgbClr val="132033"/>
                </a:solidFill>
              </a:rPr>
              <a:t>allocation stays below</a:t>
            </a:r>
          </a:p>
          <a:p>
            <a:pPr algn="l">
              <a:defRPr sz="1050" b="0">
                <a:solidFill>
                  <a:srgbClr val="132033"/>
                </a:solidFill>
              </a:defRPr>
            </a:pPr>
            <a:r>
              <a:rPr sz="1050" b="0">
                <a:solidFill>
                  <a:srgbClr val="132033"/>
                </a:solidFill>
              </a:rPr>
              <a:t>threshold.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D55DF96-4E73-49DE-99AA-49D8A79A7B48}"/>
              </a:ext>
            </a:extLst>
          </p:cNvPr>
          <p:cNvSpPr>
            <a:spLocks noGrp="1"/>
          </p:cNvSpPr>
          <p:nvPr/>
        </p:nvSpPr>
        <p:spPr>
          <a:xfrm>
            <a:off x="3581400" y="4610100"/>
            <a:ext cx="769620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478">
            <a:solidFill>
              <a:srgbClr val="D9D4C8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844A003-23A8-4857-9831-61EE1D01ED67}"/>
              </a:ext>
            </a:extLst>
          </p:cNvPr>
          <p:cNvSpPr>
            <a:spLocks noGrp="1"/>
          </p:cNvSpPr>
          <p:nvPr/>
        </p:nvSpPr>
        <p:spPr>
          <a:xfrm>
            <a:off x="3581400" y="4610100"/>
            <a:ext cx="76200" cy="1333500"/>
          </a:xfrm>
          <a:prstGeom prst="rect">
            <a:avLst/>
          </a:prstGeom>
          <a:solidFill>
            <a:srgbClr val="F377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1673A3C-F28E-4C11-9863-ECF52F013CAC}"/>
              </a:ext>
            </a:extLst>
          </p:cNvPr>
          <p:cNvSpPr>
            <a:spLocks noGrp="1"/>
          </p:cNvSpPr>
          <p:nvPr/>
        </p:nvSpPr>
        <p:spPr>
          <a:xfrm>
            <a:off x="3829050" y="4838700"/>
            <a:ext cx="7296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37766"/>
                </a:solidFill>
              </a:defRPr>
            </a:pPr>
            <a:r>
              <a:rPr sz="1050" b="1">
                <a:solidFill>
                  <a:srgbClr val="F37766"/>
                </a:solidFill>
              </a:rPr>
              <a:t>Variance checks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AD5F1A3-01B5-4830-86F1-D6BBAD60FA93}"/>
              </a:ext>
            </a:extLst>
          </p:cNvPr>
          <p:cNvSpPr>
            <a:spLocks noGrp="1"/>
          </p:cNvSpPr>
          <p:nvPr/>
        </p:nvSpPr>
        <p:spPr>
          <a:xfrm>
            <a:off x="3810000" y="5200650"/>
            <a:ext cx="7239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32033"/>
                </a:solidFill>
              </a:defRPr>
            </a:pPr>
            <a:r>
              <a:rPr sz="1050" b="0">
                <a:solidFill>
                  <a:srgbClr val="132033"/>
                </a:solidFill>
              </a:rPr>
              <a:t>Each project line stores expected allocation from assignment.</a:t>
            </a:r>
          </a:p>
          <a:p>
            <a:pPr algn="l">
              <a:defRPr sz="1050" b="0">
                <a:solidFill>
                  <a:srgbClr val="132033"/>
                </a:solidFill>
              </a:defRPr>
            </a:pPr>
            <a:r>
              <a:rPr sz="1050" b="0">
                <a:solidFill>
                  <a:srgbClr val="132033"/>
                </a:solidFill>
              </a:rPr>
              <a:t>Alerts fire for under target, over target, and</a:t>
            </a:r>
          </a:p>
          <a:p>
            <a:pPr algn="l">
              <a:defRPr sz="1050" b="0">
                <a:solidFill>
                  <a:srgbClr val="132033"/>
                </a:solidFill>
              </a:defRPr>
            </a:pPr>
            <a:r>
              <a:rPr sz="1050" b="0">
                <a:solidFill>
                  <a:srgbClr val="132033"/>
                </a:solidFill>
              </a:rPr>
              <a:t>project-over-expected cases.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CB45054-ABE0-47E5-9C14-C6E379C774F9}"/>
              </a:ext>
            </a:extLst>
          </p:cNvPr>
          <p:cNvSpPr>
            <a:spLocks noGrp="1"/>
          </p:cNvSpPr>
          <p:nvPr/>
        </p:nvSpPr>
        <p:spPr>
          <a:xfrm>
            <a:off x="666750" y="6457950"/>
            <a:ext cx="495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475569"/>
                </a:solidFill>
              </a:defRPr>
            </a:pPr>
            <a:r>
              <a:rPr sz="750" b="0">
                <a:solidFill>
                  <a:srgbClr val="475569"/>
                </a:solidFill>
              </a:rPr>
              <a:t>Implemented rules and workflows from the active application baseline.</a:t>
            </a:r>
          </a:p>
        </p:txBody>
      </p:sp>
    </p:spTree>
    <p:extLst>
      <p:ext uri="{BB962C8B-B14F-4D97-AF65-F5344CB8AC3E}">
        <p14:creationId xmlns:p14="http://schemas.microsoft.com/office/powerpoint/2010/main" val="1554860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7B8F4C20-6430-4907-B4C9-5974FF53D89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30EDB2-426E-4BEF-9548-A6ACC05720F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72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02AF981-4E68-4CDF-97BE-C0F255294778}"/>
              </a:ext>
            </a:extLst>
          </p:cNvPr>
          <p:cNvSpPr>
            <a:spLocks noGrp="1"/>
          </p:cNvSpPr>
          <p:nvPr/>
        </p:nvSpPr>
        <p:spPr>
          <a:xfrm>
            <a:off x="7334250" y="-1047750"/>
            <a:ext cx="4095750" cy="4095750"/>
          </a:xfrm>
          <a:prstGeom prst="ellipse">
            <a:avLst/>
          </a:prstGeom>
          <a:solidFill>
            <a:srgbClr val="20345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FC6E575-0EE5-40E3-A252-52D134F57F6C}"/>
              </a:ext>
            </a:extLst>
          </p:cNvPr>
          <p:cNvSpPr>
            <a:spLocks noGrp="1"/>
          </p:cNvSpPr>
          <p:nvPr/>
        </p:nvSpPr>
        <p:spPr>
          <a:xfrm>
            <a:off x="9620250" y="4095750"/>
            <a:ext cx="3429000" cy="3429000"/>
          </a:xfrm>
          <a:prstGeom prst="ellipse">
            <a:avLst/>
          </a:prstGeom>
          <a:solidFill>
            <a:srgbClr val="17273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03302D-6DF5-4FD7-9271-DDE0033BB324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11087100" cy="5676900"/>
          </a:xfrm>
          <a:prstGeom prst="rect">
            <a:avLst/>
          </a:prstGeom>
          <a:solidFill>
            <a:srgbClr val="FFFFFF">
              <a:alpha val="784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F42606-D6B9-4BB2-B24C-B5B9BE579818}"/>
              </a:ext>
            </a:extLst>
          </p:cNvPr>
          <p:cNvSpPr>
            <a:spLocks noGrp="1"/>
          </p:cNvSpPr>
          <p:nvPr/>
        </p:nvSpPr>
        <p:spPr>
          <a:xfrm>
            <a:off x="666750" y="419100"/>
            <a:ext cx="495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CD878"/>
                </a:solidFill>
              </a:defRPr>
            </a:pPr>
            <a:r>
              <a:rPr sz="975" b="1">
                <a:solidFill>
                  <a:srgbClr val="FCD878"/>
                </a:solidFill>
              </a:rPr>
              <a:t>AUTOMATION AND ALERTS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B7E71F-F6FC-4970-849B-2DCE9191C134}"/>
              </a:ext>
            </a:extLst>
          </p:cNvPr>
          <p:cNvSpPr>
            <a:spLocks noGrp="1"/>
          </p:cNvSpPr>
          <p:nvPr/>
        </p:nvSpPr>
        <p:spPr>
          <a:xfrm>
            <a:off x="10420350" y="419100"/>
            <a:ext cx="1047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06 / 08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1DE798-EF3D-437D-A356-250FFE24873E}"/>
              </a:ext>
            </a:extLst>
          </p:cNvPr>
          <p:cNvSpPr>
            <a:spLocks noGrp="1"/>
          </p:cNvSpPr>
          <p:nvPr/>
        </p:nvSpPr>
        <p:spPr>
          <a:xfrm>
            <a:off x="800100" y="1847850"/>
            <a:ext cx="6096000" cy="1333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Reminder cadence and escalation are built into the monthly operation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144C30B-8852-469E-A67A-3AF225F136F8}"/>
              </a:ext>
            </a:extLst>
          </p:cNvPr>
          <p:cNvSpPr>
            <a:spLocks noGrp="1"/>
          </p:cNvSpPr>
          <p:nvPr/>
        </p:nvSpPr>
        <p:spPr>
          <a:xfrm>
            <a:off x="819150" y="3143250"/>
            <a:ext cx="6096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DCE6F5"/>
                </a:solidFill>
              </a:defRPr>
            </a:pPr>
            <a:r>
              <a:rPr sz="1425" b="0">
                <a:solidFill>
                  <a:srgbClr val="DCE6F5"/>
                </a:solidFill>
              </a:rPr>
              <a:t>Notifications support both compliance and exception management without blocking submission.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314196D-CB1E-4394-9894-F4BFADC83DCD}"/>
              </a:ext>
            </a:extLst>
          </p:cNvPr>
          <p:cNvSpPr>
            <a:spLocks noGrp="1"/>
          </p:cNvSpPr>
          <p:nvPr/>
        </p:nvSpPr>
        <p:spPr>
          <a:xfrm>
            <a:off x="800100" y="4000500"/>
            <a:ext cx="3276600" cy="1943100"/>
          </a:xfrm>
          <a:prstGeom prst="roundRect">
            <a:avLst>
              <a:gd name="adj" fmla="val 3922"/>
            </a:avLst>
          </a:prstGeom>
          <a:solidFill>
            <a:srgbClr val="FFFFFF">
              <a:alpha val="7843"/>
            </a:srgbClr>
          </a:solidFill>
          <a:ln w="10478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5B9FAA-0408-4621-A74F-E29F7475FEC1}"/>
              </a:ext>
            </a:extLst>
          </p:cNvPr>
          <p:cNvSpPr>
            <a:spLocks noGrp="1"/>
          </p:cNvSpPr>
          <p:nvPr/>
        </p:nvSpPr>
        <p:spPr>
          <a:xfrm>
            <a:off x="800100" y="4000500"/>
            <a:ext cx="76200" cy="1943100"/>
          </a:xfrm>
          <a:prstGeom prst="rect">
            <a:avLst/>
          </a:prstGeom>
          <a:solidFill>
            <a:srgbClr val="F6B3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787A14-354D-497E-AD96-36975A20BF3E}"/>
              </a:ext>
            </a:extLst>
          </p:cNvPr>
          <p:cNvSpPr>
            <a:spLocks noGrp="1"/>
          </p:cNvSpPr>
          <p:nvPr/>
        </p:nvSpPr>
        <p:spPr>
          <a:xfrm>
            <a:off x="1047750" y="4229100"/>
            <a:ext cx="2876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CD878"/>
                </a:solidFill>
              </a:defRPr>
            </a:pPr>
            <a:r>
              <a:rPr sz="1050" b="1">
                <a:solidFill>
                  <a:srgbClr val="FCD878"/>
                </a:solidFill>
              </a:rPr>
              <a:t>Final-three-day reminders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6FD20D-3336-4468-8283-BEEF0A25289E}"/>
              </a:ext>
            </a:extLst>
          </p:cNvPr>
          <p:cNvSpPr>
            <a:spLocks noGrp="1"/>
          </p:cNvSpPr>
          <p:nvPr/>
        </p:nvSpPr>
        <p:spPr>
          <a:xfrm>
            <a:off x="1028700" y="4591050"/>
            <a:ext cx="28194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Employees without a</a:t>
            </a:r>
          </a:p>
          <a:p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submitted report receive</a:t>
            </a:r>
          </a:p>
          <a:p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in-app and email reminders</a:t>
            </a:r>
          </a:p>
          <a:p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during the final three</a:t>
            </a:r>
          </a:p>
          <a:p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calendar days.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049F7B9-AC7A-4DEC-9746-CB0CDDEF7A9A}"/>
              </a:ext>
            </a:extLst>
          </p:cNvPr>
          <p:cNvSpPr>
            <a:spLocks noGrp="1"/>
          </p:cNvSpPr>
          <p:nvPr/>
        </p:nvSpPr>
        <p:spPr>
          <a:xfrm>
            <a:off x="4419600" y="4000500"/>
            <a:ext cx="3276600" cy="1943100"/>
          </a:xfrm>
          <a:prstGeom prst="roundRect">
            <a:avLst>
              <a:gd name="adj" fmla="val 3922"/>
            </a:avLst>
          </a:prstGeom>
          <a:solidFill>
            <a:srgbClr val="FFFFFF">
              <a:alpha val="7843"/>
            </a:srgbClr>
          </a:solidFill>
          <a:ln w="10478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EF73B18-B406-451A-A132-A527C2ACB9E6}"/>
              </a:ext>
            </a:extLst>
          </p:cNvPr>
          <p:cNvSpPr>
            <a:spLocks noGrp="1"/>
          </p:cNvSpPr>
          <p:nvPr/>
        </p:nvSpPr>
        <p:spPr>
          <a:xfrm>
            <a:off x="4419600" y="4000500"/>
            <a:ext cx="76200" cy="1943100"/>
          </a:xfrm>
          <a:prstGeom prst="rect">
            <a:avLst/>
          </a:prstGeom>
          <a:solidFill>
            <a:srgbClr val="4CC9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AAC3E00-7F28-469C-AF8D-D0924B008E8E}"/>
              </a:ext>
            </a:extLst>
          </p:cNvPr>
          <p:cNvSpPr>
            <a:spLocks noGrp="1"/>
          </p:cNvSpPr>
          <p:nvPr/>
        </p:nvSpPr>
        <p:spPr>
          <a:xfrm>
            <a:off x="4667250" y="4229100"/>
            <a:ext cx="2876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CD878"/>
                </a:solidFill>
              </a:defRPr>
            </a:pPr>
            <a:r>
              <a:rPr sz="1050" b="1">
                <a:solidFill>
                  <a:srgbClr val="FCD878"/>
                </a:solidFill>
              </a:rPr>
              <a:t>Overdue grace reminders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6F72F1F-18ED-421E-8E26-050F9C65EC9B}"/>
              </a:ext>
            </a:extLst>
          </p:cNvPr>
          <p:cNvSpPr>
            <a:spLocks noGrp="1"/>
          </p:cNvSpPr>
          <p:nvPr/>
        </p:nvSpPr>
        <p:spPr>
          <a:xfrm>
            <a:off x="4648200" y="4591050"/>
            <a:ext cx="28194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If the previous month is</a:t>
            </a:r>
          </a:p>
          <a:p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still missing on days one to</a:t>
            </a:r>
          </a:p>
          <a:p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three of the next month,</a:t>
            </a:r>
          </a:p>
          <a:p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overdue reminders continue</a:t>
            </a:r>
          </a:p>
          <a:p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through the grace period.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B54355E-5D4C-4181-83EE-205E81D5388B}"/>
              </a:ext>
            </a:extLst>
          </p:cNvPr>
          <p:cNvSpPr>
            <a:spLocks noGrp="1"/>
          </p:cNvSpPr>
          <p:nvPr/>
        </p:nvSpPr>
        <p:spPr>
          <a:xfrm>
            <a:off x="8039100" y="4000500"/>
            <a:ext cx="3276600" cy="1943100"/>
          </a:xfrm>
          <a:prstGeom prst="roundRect">
            <a:avLst>
              <a:gd name="adj" fmla="val 3922"/>
            </a:avLst>
          </a:prstGeom>
          <a:solidFill>
            <a:srgbClr val="FFFFFF">
              <a:alpha val="7843"/>
            </a:srgbClr>
          </a:solidFill>
          <a:ln w="10478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0CE21E6-B50B-4061-8D70-961F1CD6A1AA}"/>
              </a:ext>
            </a:extLst>
          </p:cNvPr>
          <p:cNvSpPr>
            <a:spLocks noGrp="1"/>
          </p:cNvSpPr>
          <p:nvPr/>
        </p:nvSpPr>
        <p:spPr>
          <a:xfrm>
            <a:off x="8039100" y="4000500"/>
            <a:ext cx="76200" cy="1943100"/>
          </a:xfrm>
          <a:prstGeom prst="rect">
            <a:avLst/>
          </a:prstGeom>
          <a:solidFill>
            <a:srgbClr val="F377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D2AA0E8-DA88-4C3C-8F7D-8A517F0E4ECF}"/>
              </a:ext>
            </a:extLst>
          </p:cNvPr>
          <p:cNvSpPr>
            <a:spLocks noGrp="1"/>
          </p:cNvSpPr>
          <p:nvPr/>
        </p:nvSpPr>
        <p:spPr>
          <a:xfrm>
            <a:off x="8286750" y="4229100"/>
            <a:ext cx="2876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CD878"/>
                </a:solidFill>
              </a:defRPr>
            </a:pPr>
            <a:r>
              <a:rPr sz="1050" b="1">
                <a:solidFill>
                  <a:srgbClr val="FCD878"/>
                </a:solidFill>
              </a:rPr>
              <a:t>Admin alerts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51FE2EB-A918-4B3E-B281-CEA49B1875A0}"/>
              </a:ext>
            </a:extLst>
          </p:cNvPr>
          <p:cNvSpPr>
            <a:spLocks noGrp="1"/>
          </p:cNvSpPr>
          <p:nvPr/>
        </p:nvSpPr>
        <p:spPr>
          <a:xfrm>
            <a:off x="8267700" y="4591050"/>
            <a:ext cx="28194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Admins are notified for new</a:t>
            </a:r>
          </a:p>
          <a:p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submissions, resubmissions,</a:t>
            </a:r>
          </a:p>
          <a:p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under target totals, over</a:t>
            </a:r>
          </a:p>
          <a:p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target totals, and</a:t>
            </a:r>
          </a:p>
          <a:p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project-over-expected</a:t>
            </a:r>
          </a:p>
          <a:p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allocations.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4EA4709-9E3F-477B-932B-DAABC7532792}"/>
              </a:ext>
            </a:extLst>
          </p:cNvPr>
          <p:cNvSpPr>
            <a:spLocks noGrp="1"/>
          </p:cNvSpPr>
          <p:nvPr/>
        </p:nvSpPr>
        <p:spPr>
          <a:xfrm>
            <a:off x="666750" y="6457950"/>
            <a:ext cx="495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D8E0EE"/>
                </a:solidFill>
              </a:defRPr>
            </a:pPr>
            <a:r>
              <a:rPr sz="750" b="0">
                <a:solidFill>
                  <a:srgbClr val="D8E0EE"/>
                </a:solidFill>
              </a:rPr>
              <a:t>Implemented rules and workflows from the active application baseline.</a:t>
            </a:r>
          </a:p>
        </p:txBody>
      </p:sp>
    </p:spTree>
    <p:extLst>
      <p:ext uri="{BB962C8B-B14F-4D97-AF65-F5344CB8AC3E}">
        <p14:creationId xmlns:p14="http://schemas.microsoft.com/office/powerpoint/2010/main" val="697472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7B8F4C20-6430-4907-B4C9-5974FF53D89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ECDC0F5-4B80-4E1D-9C6F-1FAD184924E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8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12D9688-AA60-404C-9F17-8C73A504E360}"/>
              </a:ext>
            </a:extLst>
          </p:cNvPr>
          <p:cNvSpPr>
            <a:spLocks noGrp="1"/>
          </p:cNvSpPr>
          <p:nvPr/>
        </p:nvSpPr>
        <p:spPr>
          <a:xfrm>
            <a:off x="-1143000" y="4476750"/>
            <a:ext cx="3048000" cy="3048000"/>
          </a:xfrm>
          <a:prstGeom prst="ellipse">
            <a:avLst/>
          </a:prstGeom>
          <a:solidFill>
            <a:srgbClr val="FFD67C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2EC0A6B-9065-4CA3-9046-816BAD34371B}"/>
              </a:ext>
            </a:extLst>
          </p:cNvPr>
          <p:cNvSpPr>
            <a:spLocks noGrp="1"/>
          </p:cNvSpPr>
          <p:nvPr/>
        </p:nvSpPr>
        <p:spPr>
          <a:xfrm>
            <a:off x="10001250" y="-762000"/>
            <a:ext cx="2667000" cy="2667000"/>
          </a:xfrm>
          <a:prstGeom prst="ellipse">
            <a:avLst/>
          </a:prstGeom>
          <a:solidFill>
            <a:srgbClr val="A6EAD6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2B317C-9D6C-4E3E-A5B2-233BF9CE2D8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105150" cy="6858000"/>
          </a:xfrm>
          <a:prstGeom prst="rect">
            <a:avLst/>
          </a:prstGeom>
          <a:solidFill>
            <a:srgbClr val="0E172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DA3145-AA25-4EFB-906A-8852707158A0}"/>
              </a:ext>
            </a:extLst>
          </p:cNvPr>
          <p:cNvSpPr>
            <a:spLocks noGrp="1"/>
          </p:cNvSpPr>
          <p:nvPr/>
        </p:nvSpPr>
        <p:spPr>
          <a:xfrm>
            <a:off x="3105150" y="0"/>
            <a:ext cx="133350" cy="6858000"/>
          </a:xfrm>
          <a:prstGeom prst="rect">
            <a:avLst/>
          </a:prstGeom>
          <a:solidFill>
            <a:srgbClr val="F6B3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CF49B6-01D2-444F-92F8-1CA8E89FAF28}"/>
              </a:ext>
            </a:extLst>
          </p:cNvPr>
          <p:cNvSpPr>
            <a:spLocks noGrp="1"/>
          </p:cNvSpPr>
          <p:nvPr/>
        </p:nvSpPr>
        <p:spPr>
          <a:xfrm>
            <a:off x="666750" y="419100"/>
            <a:ext cx="495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6B31A"/>
                </a:solidFill>
              </a:defRPr>
            </a:pPr>
            <a:r>
              <a:rPr sz="975" b="1">
                <a:solidFill>
                  <a:srgbClr val="F6B31A"/>
                </a:solidFill>
              </a:rPr>
              <a:t>DATA MODEL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52FA257-0798-46FE-8AF7-446DC568B52C}"/>
              </a:ext>
            </a:extLst>
          </p:cNvPr>
          <p:cNvSpPr>
            <a:spLocks noGrp="1"/>
          </p:cNvSpPr>
          <p:nvPr/>
        </p:nvSpPr>
        <p:spPr>
          <a:xfrm>
            <a:off x="10420350" y="419100"/>
            <a:ext cx="1047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0E1726"/>
                </a:solidFill>
              </a:defRPr>
            </a:pPr>
            <a:r>
              <a:rPr sz="975" b="1">
                <a:solidFill>
                  <a:srgbClr val="0E1726"/>
                </a:solidFill>
              </a:rPr>
              <a:t>07 / 08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E88C2F-00D5-493A-8AB8-3AB14D398A28}"/>
              </a:ext>
            </a:extLst>
          </p:cNvPr>
          <p:cNvSpPr>
            <a:spLocks noGrp="1"/>
          </p:cNvSpPr>
          <p:nvPr/>
        </p:nvSpPr>
        <p:spPr>
          <a:xfrm>
            <a:off x="3581400" y="895350"/>
            <a:ext cx="7429500" cy="1333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32033"/>
                </a:solidFill>
              </a:defRPr>
            </a:pPr>
            <a:r>
              <a:rPr sz="2850" b="1">
                <a:solidFill>
                  <a:srgbClr val="132033"/>
                </a:solidFill>
              </a:rPr>
              <a:t>The schema is organized around setup, reporting, and auditability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F4AA27-EF0F-41EF-A769-A40F71AC6E94}"/>
              </a:ext>
            </a:extLst>
          </p:cNvPr>
          <p:cNvSpPr>
            <a:spLocks noGrp="1"/>
          </p:cNvSpPr>
          <p:nvPr/>
        </p:nvSpPr>
        <p:spPr>
          <a:xfrm>
            <a:off x="3600450" y="2190750"/>
            <a:ext cx="6858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Master data, monthly reporting data, and closure activity are separated cleanly for reporting and control.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ED61561-BD9D-47C4-90D4-7F7F4765CD87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CD878"/>
                </a:solidFill>
              </a:defRPr>
            </a:pPr>
            <a:r>
              <a:rPr sz="1050" b="1">
                <a:solidFill>
                  <a:srgbClr val="FCD878"/>
                </a:solidFill>
              </a:rPr>
              <a:t>Scope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4F9090-7EE0-4F7E-9674-247740A3F7F7}"/>
              </a:ext>
            </a:extLst>
          </p:cNvPr>
          <p:cNvSpPr>
            <a:spLocks noGrp="1"/>
          </p:cNvSpPr>
          <p:nvPr/>
        </p:nvSpPr>
        <p:spPr>
          <a:xfrm>
            <a:off x="666750" y="1390650"/>
            <a:ext cx="20383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Operational</a:t>
            </a:r>
          </a:p>
          <a:p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technical view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890F9D4-2AFF-44CB-A274-BB6FFA0AA2A2}"/>
              </a:ext>
            </a:extLst>
          </p:cNvPr>
          <p:cNvSpPr>
            <a:spLocks noGrp="1"/>
          </p:cNvSpPr>
          <p:nvPr/>
        </p:nvSpPr>
        <p:spPr>
          <a:xfrm>
            <a:off x="666750" y="2495550"/>
            <a:ext cx="20002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DCE6F5"/>
                </a:solidFill>
              </a:defRPr>
            </a:pPr>
            <a:r>
              <a:rPr sz="1200" b="0">
                <a:solidFill>
                  <a:srgbClr val="DCE6F5"/>
                </a:solidFill>
              </a:rPr>
              <a:t>Rules, workflows, and controls currently implemented in the product.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CE55E3F-70AE-4B13-B944-0875EFD30B18}"/>
              </a:ext>
            </a:extLst>
          </p:cNvPr>
          <p:cNvSpPr>
            <a:spLocks noGrp="1"/>
          </p:cNvSpPr>
          <p:nvPr/>
        </p:nvSpPr>
        <p:spPr>
          <a:xfrm>
            <a:off x="3581400" y="2800350"/>
            <a:ext cx="373380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0478">
            <a:solidFill>
              <a:srgbClr val="D9D4C8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A2A9049-DC55-461A-83D3-5F8CEDCC3BE3}"/>
              </a:ext>
            </a:extLst>
          </p:cNvPr>
          <p:cNvSpPr>
            <a:spLocks noGrp="1"/>
          </p:cNvSpPr>
          <p:nvPr/>
        </p:nvSpPr>
        <p:spPr>
          <a:xfrm>
            <a:off x="3581400" y="2800350"/>
            <a:ext cx="76200" cy="1619250"/>
          </a:xfrm>
          <a:prstGeom prst="rect">
            <a:avLst/>
          </a:prstGeom>
          <a:solidFill>
            <a:srgbClr val="F6B3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19EB012-701B-423E-BD18-FF6A8FBC0024}"/>
              </a:ext>
            </a:extLst>
          </p:cNvPr>
          <p:cNvSpPr>
            <a:spLocks noGrp="1"/>
          </p:cNvSpPr>
          <p:nvPr/>
        </p:nvSpPr>
        <p:spPr>
          <a:xfrm>
            <a:off x="3829050" y="3028950"/>
            <a:ext cx="3333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6B31A"/>
                </a:solidFill>
              </a:defRPr>
            </a:pPr>
            <a:r>
              <a:rPr sz="1050" b="1">
                <a:solidFill>
                  <a:srgbClr val="F6B31A"/>
                </a:solidFill>
              </a:rPr>
              <a:t>Master data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4AF65A9-BA84-4C55-8379-0EB112A4D15E}"/>
              </a:ext>
            </a:extLst>
          </p:cNvPr>
          <p:cNvSpPr>
            <a:spLocks noGrp="1"/>
          </p:cNvSpPr>
          <p:nvPr/>
        </p:nvSpPr>
        <p:spPr>
          <a:xfrm>
            <a:off x="3810000" y="3390900"/>
            <a:ext cx="32766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32033"/>
                </a:solidFill>
              </a:defRPr>
            </a:pPr>
            <a:r>
              <a:rPr sz="1050" b="0">
                <a:solidFill>
                  <a:srgbClr val="132033"/>
                </a:solidFill>
              </a:rPr>
              <a:t>Users, departments, projects,</a:t>
            </a:r>
          </a:p>
          <a:p>
            <a:pPr algn="l">
              <a:defRPr sz="1050" b="0">
                <a:solidFill>
                  <a:srgbClr val="132033"/>
                </a:solidFill>
              </a:defRPr>
            </a:pPr>
            <a:r>
              <a:rPr sz="1050" b="0">
                <a:solidFill>
                  <a:srgbClr val="132033"/>
                </a:solidFill>
              </a:rPr>
              <a:t>assignments, and public holidays</a:t>
            </a:r>
          </a:p>
          <a:p>
            <a:pPr algn="l">
              <a:defRPr sz="1050" b="0">
                <a:solidFill>
                  <a:srgbClr val="132033"/>
                </a:solidFill>
              </a:defRPr>
            </a:pPr>
            <a:r>
              <a:rPr sz="1050" b="0">
                <a:solidFill>
                  <a:srgbClr val="132033"/>
                </a:solidFill>
              </a:rPr>
              <a:t>define reporting scope and</a:t>
            </a:r>
          </a:p>
          <a:p>
            <a:pPr algn="l">
              <a:defRPr sz="1050" b="0">
                <a:solidFill>
                  <a:srgbClr val="132033"/>
                </a:solidFill>
              </a:defRPr>
            </a:pPr>
            <a:r>
              <a:rPr sz="1050" b="0">
                <a:solidFill>
                  <a:srgbClr val="132033"/>
                </a:solidFill>
              </a:rPr>
              <a:t>project eligibility.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83E3B93-54D0-4ED0-834B-4DDAAF425D92}"/>
              </a:ext>
            </a:extLst>
          </p:cNvPr>
          <p:cNvSpPr>
            <a:spLocks noGrp="1"/>
          </p:cNvSpPr>
          <p:nvPr/>
        </p:nvSpPr>
        <p:spPr>
          <a:xfrm>
            <a:off x="7543800" y="2800350"/>
            <a:ext cx="373380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0478">
            <a:solidFill>
              <a:srgbClr val="D9D4C8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18AF2FB-53A1-4ACD-AAAA-32140FDC0932}"/>
              </a:ext>
            </a:extLst>
          </p:cNvPr>
          <p:cNvSpPr>
            <a:spLocks noGrp="1"/>
          </p:cNvSpPr>
          <p:nvPr/>
        </p:nvSpPr>
        <p:spPr>
          <a:xfrm>
            <a:off x="7543800" y="2800350"/>
            <a:ext cx="76200" cy="1619250"/>
          </a:xfrm>
          <a:prstGeom prst="rect">
            <a:avLst/>
          </a:prstGeom>
          <a:solidFill>
            <a:srgbClr val="4CC9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B8E6B50-7A9D-4940-B242-8EDEB3048078}"/>
              </a:ext>
            </a:extLst>
          </p:cNvPr>
          <p:cNvSpPr>
            <a:spLocks noGrp="1"/>
          </p:cNvSpPr>
          <p:nvPr/>
        </p:nvSpPr>
        <p:spPr>
          <a:xfrm>
            <a:off x="7791450" y="3028950"/>
            <a:ext cx="3333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4CC9A6"/>
                </a:solidFill>
              </a:defRPr>
            </a:pPr>
            <a:r>
              <a:rPr sz="1050" b="1">
                <a:solidFill>
                  <a:srgbClr val="4CC9A6"/>
                </a:solidFill>
              </a:rPr>
              <a:t>Reporting data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8928AE-3455-499D-B28C-8E2EB43C20F7}"/>
              </a:ext>
            </a:extLst>
          </p:cNvPr>
          <p:cNvSpPr>
            <a:spLocks noGrp="1"/>
          </p:cNvSpPr>
          <p:nvPr/>
        </p:nvSpPr>
        <p:spPr>
          <a:xfrm>
            <a:off x="7772400" y="3390900"/>
            <a:ext cx="32766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32033"/>
                </a:solidFill>
              </a:defRPr>
            </a:pPr>
            <a:r>
              <a:rPr sz="1050" b="0">
                <a:solidFill>
                  <a:srgbClr val="132033"/>
                </a:solidFill>
              </a:rPr>
              <a:t>Monthly reports cache totals for</a:t>
            </a:r>
          </a:p>
          <a:p>
            <a:pPr algn="l">
              <a:defRPr sz="1050" b="0">
                <a:solidFill>
                  <a:srgbClr val="132033"/>
                </a:solidFill>
              </a:defRPr>
            </a:pPr>
            <a:r>
              <a:rPr sz="1050" b="0">
                <a:solidFill>
                  <a:srgbClr val="132033"/>
                </a:solidFill>
              </a:rPr>
              <a:t>speed while report lines</a:t>
            </a:r>
          </a:p>
          <a:p>
            <a:pPr algn="l">
              <a:defRPr sz="1050" b="0">
                <a:solidFill>
                  <a:srgbClr val="132033"/>
                </a:solidFill>
              </a:defRPr>
            </a:pPr>
            <a:r>
              <a:rPr sz="1050" b="0">
                <a:solidFill>
                  <a:srgbClr val="132033"/>
                </a:solidFill>
              </a:rPr>
              <a:t>preserve project, time-off, and</a:t>
            </a:r>
          </a:p>
          <a:p>
            <a:pPr algn="l">
              <a:defRPr sz="1050" b="0">
                <a:solidFill>
                  <a:srgbClr val="132033"/>
                </a:solidFill>
              </a:defRPr>
            </a:pPr>
            <a:r>
              <a:rPr sz="1050" b="0">
                <a:solidFill>
                  <a:srgbClr val="132033"/>
                </a:solidFill>
              </a:rPr>
              <a:t>open-capacity detail.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A3A82A3-6AAB-4DBE-80DF-098A7A2A490F}"/>
              </a:ext>
            </a:extLst>
          </p:cNvPr>
          <p:cNvSpPr>
            <a:spLocks noGrp="1"/>
          </p:cNvSpPr>
          <p:nvPr/>
        </p:nvSpPr>
        <p:spPr>
          <a:xfrm>
            <a:off x="3581400" y="4610100"/>
            <a:ext cx="769620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478">
            <a:solidFill>
              <a:srgbClr val="D9D4C8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8C93219-B97F-4C84-9196-1A43E3EA79E7}"/>
              </a:ext>
            </a:extLst>
          </p:cNvPr>
          <p:cNvSpPr>
            <a:spLocks noGrp="1"/>
          </p:cNvSpPr>
          <p:nvPr/>
        </p:nvSpPr>
        <p:spPr>
          <a:xfrm>
            <a:off x="3581400" y="4610100"/>
            <a:ext cx="76200" cy="1333500"/>
          </a:xfrm>
          <a:prstGeom prst="rect">
            <a:avLst/>
          </a:prstGeom>
          <a:solidFill>
            <a:srgbClr val="F377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1C8523A-D22D-4522-AAF3-090C5F7A7F3A}"/>
              </a:ext>
            </a:extLst>
          </p:cNvPr>
          <p:cNvSpPr>
            <a:spLocks noGrp="1"/>
          </p:cNvSpPr>
          <p:nvPr/>
        </p:nvSpPr>
        <p:spPr>
          <a:xfrm>
            <a:off x="3829050" y="4838700"/>
            <a:ext cx="7296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37766"/>
                </a:solidFill>
              </a:defRPr>
            </a:pPr>
            <a:r>
              <a:rPr sz="1050" b="1">
                <a:solidFill>
                  <a:srgbClr val="F37766"/>
                </a:solidFill>
              </a:rPr>
              <a:t>Audit and controls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384647B-3E6E-4F9A-834E-FC9D92B0FA0C}"/>
              </a:ext>
            </a:extLst>
          </p:cNvPr>
          <p:cNvSpPr>
            <a:spLocks noGrp="1"/>
          </p:cNvSpPr>
          <p:nvPr/>
        </p:nvSpPr>
        <p:spPr>
          <a:xfrm>
            <a:off x="3810000" y="5200650"/>
            <a:ext cx="7239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32033"/>
                </a:solidFill>
              </a:defRPr>
            </a:pPr>
            <a:r>
              <a:rPr sz="1050" b="0">
                <a:solidFill>
                  <a:srgbClr val="132033"/>
                </a:solidFill>
              </a:rPr>
              <a:t>Closure records, activity logs, and notifications preserve</a:t>
            </a:r>
          </a:p>
          <a:p>
            <a:pPr algn="l">
              <a:defRPr sz="1050" b="0">
                <a:solidFill>
                  <a:srgbClr val="132033"/>
                </a:solidFill>
              </a:defRPr>
            </a:pPr>
            <a:r>
              <a:rPr sz="1050" b="0">
                <a:solidFill>
                  <a:srgbClr val="132033"/>
                </a:solidFill>
              </a:rPr>
              <a:t>traceability across submissions, alerts, and month-end locks.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BB707ED-FBD6-48F5-B232-0F0D98622806}"/>
              </a:ext>
            </a:extLst>
          </p:cNvPr>
          <p:cNvSpPr>
            <a:spLocks noGrp="1"/>
          </p:cNvSpPr>
          <p:nvPr/>
        </p:nvSpPr>
        <p:spPr>
          <a:xfrm>
            <a:off x="666750" y="6457950"/>
            <a:ext cx="495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475569"/>
                </a:solidFill>
              </a:defRPr>
            </a:pPr>
            <a:r>
              <a:rPr sz="750" b="0">
                <a:solidFill>
                  <a:srgbClr val="475569"/>
                </a:solidFill>
              </a:rPr>
              <a:t>Implemented rules and workflows from the active application baseline.</a:t>
            </a:r>
          </a:p>
        </p:txBody>
      </p:sp>
    </p:spTree>
    <p:extLst>
      <p:ext uri="{BB962C8B-B14F-4D97-AF65-F5344CB8AC3E}">
        <p14:creationId xmlns:p14="http://schemas.microsoft.com/office/powerpoint/2010/main" val="13964130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7B8F4C20-6430-4907-B4C9-5974FF53D89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87AEC5-FF92-4951-85CA-C0EF1E20686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72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B20B23C-59AD-41E3-8F90-518315FDF190}"/>
              </a:ext>
            </a:extLst>
          </p:cNvPr>
          <p:cNvSpPr>
            <a:spLocks noGrp="1"/>
          </p:cNvSpPr>
          <p:nvPr/>
        </p:nvSpPr>
        <p:spPr>
          <a:xfrm>
            <a:off x="7334250" y="-1047750"/>
            <a:ext cx="4095750" cy="4095750"/>
          </a:xfrm>
          <a:prstGeom prst="ellipse">
            <a:avLst/>
          </a:prstGeom>
          <a:solidFill>
            <a:srgbClr val="20345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B6A18E9-670A-49C6-868C-793C81F91779}"/>
              </a:ext>
            </a:extLst>
          </p:cNvPr>
          <p:cNvSpPr>
            <a:spLocks noGrp="1"/>
          </p:cNvSpPr>
          <p:nvPr/>
        </p:nvSpPr>
        <p:spPr>
          <a:xfrm>
            <a:off x="9620250" y="4095750"/>
            <a:ext cx="3429000" cy="3429000"/>
          </a:xfrm>
          <a:prstGeom prst="ellipse">
            <a:avLst/>
          </a:prstGeom>
          <a:solidFill>
            <a:srgbClr val="17273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2F0134-851A-4B00-A41B-122A941EEC6F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11087100" cy="5676900"/>
          </a:xfrm>
          <a:prstGeom prst="rect">
            <a:avLst/>
          </a:prstGeom>
          <a:solidFill>
            <a:srgbClr val="FFFFFF">
              <a:alpha val="784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74DD01-F697-4161-98EF-50606B25D010}"/>
              </a:ext>
            </a:extLst>
          </p:cNvPr>
          <p:cNvSpPr>
            <a:spLocks noGrp="1"/>
          </p:cNvSpPr>
          <p:nvPr/>
        </p:nvSpPr>
        <p:spPr>
          <a:xfrm>
            <a:off x="666750" y="419100"/>
            <a:ext cx="495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CD878"/>
                </a:solidFill>
              </a:defRPr>
            </a:pPr>
            <a:r>
              <a:rPr sz="975" b="1">
                <a:solidFill>
                  <a:srgbClr val="FCD878"/>
                </a:solidFill>
              </a:rPr>
              <a:t>IMPLEMENTATION STATUS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C9F542-FBD3-45CE-80E2-133B26609EC0}"/>
              </a:ext>
            </a:extLst>
          </p:cNvPr>
          <p:cNvSpPr>
            <a:spLocks noGrp="1"/>
          </p:cNvSpPr>
          <p:nvPr/>
        </p:nvSpPr>
        <p:spPr>
          <a:xfrm>
            <a:off x="10420350" y="419100"/>
            <a:ext cx="1047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08 / 08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691AA3-3B0B-401A-802D-CD5E08BDD332}"/>
              </a:ext>
            </a:extLst>
          </p:cNvPr>
          <p:cNvSpPr>
            <a:spLocks noGrp="1"/>
          </p:cNvSpPr>
          <p:nvPr/>
        </p:nvSpPr>
        <p:spPr>
          <a:xfrm>
            <a:off x="800100" y="1847850"/>
            <a:ext cx="6096000" cy="1333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What is already delivered and what remains for later phases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0631D1-1775-49AF-8147-820D1441CB4D}"/>
              </a:ext>
            </a:extLst>
          </p:cNvPr>
          <p:cNvSpPr>
            <a:spLocks noGrp="1"/>
          </p:cNvSpPr>
          <p:nvPr/>
        </p:nvSpPr>
        <p:spPr>
          <a:xfrm>
            <a:off x="819150" y="3143250"/>
            <a:ext cx="6096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DCE6F5"/>
                </a:solidFill>
              </a:defRPr>
            </a:pPr>
            <a:r>
              <a:rPr sz="1425" b="0">
                <a:solidFill>
                  <a:srgbClr val="DCE6F5"/>
                </a:solidFill>
              </a:rPr>
              <a:t>The platform already supports the full monthly reporting loop, while a smaller set of roadmap items remains intentionally deferred.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6E43FE8-CD5E-4C95-A0A6-22FEB8424E0A}"/>
              </a:ext>
            </a:extLst>
          </p:cNvPr>
          <p:cNvSpPr>
            <a:spLocks noGrp="1"/>
          </p:cNvSpPr>
          <p:nvPr/>
        </p:nvSpPr>
        <p:spPr>
          <a:xfrm>
            <a:off x="800100" y="4000500"/>
            <a:ext cx="3276600" cy="1943100"/>
          </a:xfrm>
          <a:prstGeom prst="roundRect">
            <a:avLst>
              <a:gd name="adj" fmla="val 3922"/>
            </a:avLst>
          </a:prstGeom>
          <a:solidFill>
            <a:srgbClr val="FFFFFF">
              <a:alpha val="7843"/>
            </a:srgbClr>
          </a:solidFill>
          <a:ln w="10478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BA2102-4492-4BA1-8C1F-E0058A99FABE}"/>
              </a:ext>
            </a:extLst>
          </p:cNvPr>
          <p:cNvSpPr>
            <a:spLocks noGrp="1"/>
          </p:cNvSpPr>
          <p:nvPr/>
        </p:nvSpPr>
        <p:spPr>
          <a:xfrm>
            <a:off x="800100" y="4000500"/>
            <a:ext cx="76200" cy="1943100"/>
          </a:xfrm>
          <a:prstGeom prst="rect">
            <a:avLst/>
          </a:prstGeom>
          <a:solidFill>
            <a:srgbClr val="F6B3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BED3A3-54B7-457C-A213-0DD32B35A0D4}"/>
              </a:ext>
            </a:extLst>
          </p:cNvPr>
          <p:cNvSpPr>
            <a:spLocks noGrp="1"/>
          </p:cNvSpPr>
          <p:nvPr/>
        </p:nvSpPr>
        <p:spPr>
          <a:xfrm>
            <a:off x="1047750" y="4229100"/>
            <a:ext cx="2876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CD878"/>
                </a:solidFill>
              </a:defRPr>
            </a:pPr>
            <a:r>
              <a:rPr sz="1050" b="1">
                <a:solidFill>
                  <a:srgbClr val="FCD878"/>
                </a:solidFill>
              </a:rPr>
              <a:t>Delivered now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F631F23-E30E-4005-88BF-1BDC42DBB048}"/>
              </a:ext>
            </a:extLst>
          </p:cNvPr>
          <p:cNvSpPr>
            <a:spLocks noGrp="1"/>
          </p:cNvSpPr>
          <p:nvPr/>
        </p:nvSpPr>
        <p:spPr>
          <a:xfrm>
            <a:off x="1028700" y="4591050"/>
            <a:ext cx="28194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Panels, roles, workforce</a:t>
            </a:r>
          </a:p>
          <a:p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setup, employee reporting,</a:t>
            </a:r>
          </a:p>
          <a:p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analytics, dashboard,</a:t>
            </a:r>
          </a:p>
          <a:p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reminders, closures, CSV</a:t>
            </a:r>
          </a:p>
          <a:p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exports, seed data, and</a:t>
            </a:r>
          </a:p>
          <a:p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bootstrap tooling are</a:t>
            </a:r>
          </a:p>
          <a:p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implemented.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652FE01-F066-496C-93CB-720D6D70FE18}"/>
              </a:ext>
            </a:extLst>
          </p:cNvPr>
          <p:cNvSpPr>
            <a:spLocks noGrp="1"/>
          </p:cNvSpPr>
          <p:nvPr/>
        </p:nvSpPr>
        <p:spPr>
          <a:xfrm>
            <a:off x="4419600" y="4000500"/>
            <a:ext cx="3276600" cy="1943100"/>
          </a:xfrm>
          <a:prstGeom prst="roundRect">
            <a:avLst>
              <a:gd name="adj" fmla="val 3922"/>
            </a:avLst>
          </a:prstGeom>
          <a:solidFill>
            <a:srgbClr val="FFFFFF">
              <a:alpha val="7843"/>
            </a:srgbClr>
          </a:solidFill>
          <a:ln w="10478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0A3E588-FF6D-4C96-9DD4-13435A71FBB2}"/>
              </a:ext>
            </a:extLst>
          </p:cNvPr>
          <p:cNvSpPr>
            <a:spLocks noGrp="1"/>
          </p:cNvSpPr>
          <p:nvPr/>
        </p:nvSpPr>
        <p:spPr>
          <a:xfrm>
            <a:off x="4419600" y="4000500"/>
            <a:ext cx="76200" cy="1943100"/>
          </a:xfrm>
          <a:prstGeom prst="rect">
            <a:avLst/>
          </a:prstGeom>
          <a:solidFill>
            <a:srgbClr val="4CC9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CD9431F-310B-4C57-95CA-94308C70D9D6}"/>
              </a:ext>
            </a:extLst>
          </p:cNvPr>
          <p:cNvSpPr>
            <a:spLocks noGrp="1"/>
          </p:cNvSpPr>
          <p:nvPr/>
        </p:nvSpPr>
        <p:spPr>
          <a:xfrm>
            <a:off x="4667250" y="4229100"/>
            <a:ext cx="2876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CD878"/>
                </a:solidFill>
              </a:defRPr>
            </a:pPr>
            <a:r>
              <a:rPr sz="1050" b="1">
                <a:solidFill>
                  <a:srgbClr val="FCD878"/>
                </a:solidFill>
              </a:rPr>
              <a:t>Deferred items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9455E16-71AB-42D6-96E1-21FEB4C44D41}"/>
              </a:ext>
            </a:extLst>
          </p:cNvPr>
          <p:cNvSpPr>
            <a:spLocks noGrp="1"/>
          </p:cNvSpPr>
          <p:nvPr/>
        </p:nvSpPr>
        <p:spPr>
          <a:xfrm>
            <a:off x="4648200" y="4591050"/>
            <a:ext cx="28194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Team lead review, reviewed</a:t>
            </a:r>
          </a:p>
          <a:p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status, configurable</a:t>
            </a:r>
          </a:p>
          <a:p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thresholds, leaving date</a:t>
            </a:r>
          </a:p>
          <a:p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support, and Google Calendar</a:t>
            </a:r>
          </a:p>
          <a:p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time-off sync remain</a:t>
            </a:r>
          </a:p>
          <a:p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deferred.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0364AF9-EC50-408A-9086-4277292F13E5}"/>
              </a:ext>
            </a:extLst>
          </p:cNvPr>
          <p:cNvSpPr>
            <a:spLocks noGrp="1"/>
          </p:cNvSpPr>
          <p:nvPr/>
        </p:nvSpPr>
        <p:spPr>
          <a:xfrm>
            <a:off x="8039100" y="4000500"/>
            <a:ext cx="3276600" cy="1943100"/>
          </a:xfrm>
          <a:prstGeom prst="roundRect">
            <a:avLst>
              <a:gd name="adj" fmla="val 3922"/>
            </a:avLst>
          </a:prstGeom>
          <a:solidFill>
            <a:srgbClr val="FFFFFF">
              <a:alpha val="7843"/>
            </a:srgbClr>
          </a:solidFill>
          <a:ln w="10478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714052D-F643-4F5A-92C2-6A8334101885}"/>
              </a:ext>
            </a:extLst>
          </p:cNvPr>
          <p:cNvSpPr>
            <a:spLocks noGrp="1"/>
          </p:cNvSpPr>
          <p:nvPr/>
        </p:nvSpPr>
        <p:spPr>
          <a:xfrm>
            <a:off x="8039100" y="4000500"/>
            <a:ext cx="76200" cy="1943100"/>
          </a:xfrm>
          <a:prstGeom prst="rect">
            <a:avLst/>
          </a:prstGeom>
          <a:solidFill>
            <a:srgbClr val="F377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8AB4976-02DD-4202-B259-2FFBCC11E0C6}"/>
              </a:ext>
            </a:extLst>
          </p:cNvPr>
          <p:cNvSpPr>
            <a:spLocks noGrp="1"/>
          </p:cNvSpPr>
          <p:nvPr/>
        </p:nvSpPr>
        <p:spPr>
          <a:xfrm>
            <a:off x="8286750" y="4229100"/>
            <a:ext cx="2876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CD878"/>
                </a:solidFill>
              </a:defRPr>
            </a:pPr>
            <a:r>
              <a:rPr sz="1050" b="1">
                <a:solidFill>
                  <a:srgbClr val="FCD878"/>
                </a:solidFill>
              </a:rPr>
              <a:t>Operational readiness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5FE02B5-A568-408D-B731-89CC41E785C1}"/>
              </a:ext>
            </a:extLst>
          </p:cNvPr>
          <p:cNvSpPr>
            <a:spLocks noGrp="1"/>
          </p:cNvSpPr>
          <p:nvPr/>
        </p:nvSpPr>
        <p:spPr>
          <a:xfrm>
            <a:off x="8267700" y="4591050"/>
            <a:ext cx="28194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SQLite-backed test coverage</a:t>
            </a:r>
          </a:p>
          <a:p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exists for access,</a:t>
            </a:r>
          </a:p>
          <a:p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calculations, employee</a:t>
            </a:r>
          </a:p>
          <a:p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pages, analytics, exports,</a:t>
            </a:r>
          </a:p>
          <a:p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automation, seeders, and</a:t>
            </a:r>
          </a:p>
          <a:p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workforce setup infolists.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E539CC8-A2BF-4943-8A54-7C2E8EC40508}"/>
              </a:ext>
            </a:extLst>
          </p:cNvPr>
          <p:cNvSpPr>
            <a:spLocks noGrp="1"/>
          </p:cNvSpPr>
          <p:nvPr/>
        </p:nvSpPr>
        <p:spPr>
          <a:xfrm>
            <a:off x="666750" y="6457950"/>
            <a:ext cx="495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D8E0EE"/>
                </a:solidFill>
              </a:defRPr>
            </a:pPr>
            <a:r>
              <a:rPr sz="750" b="0">
                <a:solidFill>
                  <a:srgbClr val="D8E0EE"/>
                </a:solidFill>
              </a:rPr>
              <a:t>Implemented rules and workflows from the active application baseline.</a:t>
            </a:r>
          </a:p>
        </p:txBody>
      </p:sp>
    </p:spTree>
    <p:extLst>
      <p:ext uri="{BB962C8B-B14F-4D97-AF65-F5344CB8AC3E}">
        <p14:creationId xmlns:p14="http://schemas.microsoft.com/office/powerpoint/2010/main" val="74496580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1246</Words>
  <Application>Microsoft Office PowerPoint</Application>
  <DocSecurity>0</DocSecurity>
  <PresentationFormat>Widescreen</PresentationFormat>
  <Paragraphs>232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Calibri</vt:lpstr>
      <vt:lpstr>Calibri Light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Mubashir Akhtar</cp:lastModifiedBy>
  <cp:revision>3</cp:revision>
  <dcterms:created xsi:type="dcterms:W3CDTF">2026-04-23T07:02:50Z</dcterms:created>
  <dcterms:modified xsi:type="dcterms:W3CDTF">2026-04-23T07:18:21Z</dcterms:modified>
</cp:coreProperties>
</file>